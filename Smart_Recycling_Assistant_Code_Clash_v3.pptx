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52a8b46fdd4916" /><Relationship Type="http://schemas.openxmlformats.org/officeDocument/2006/relationships/extended-properties" Target="/docProps/app.xml" Id="Rd09d678480be4f02" /><Relationship Type="http://schemas.openxmlformats.org/officeDocument/2006/relationships/officeDocument" Target="/ppt/presentation.xml" Id="R64e458946eb44d61" /></Relationships>
</file>

<file path=ppt/presentation.xml><?xml version="1.0" encoding="utf-8"?>
<p:presentation xmlns:p="http://schemas.openxmlformats.org/presentationml/2006/main">
  <p:sldMasterIdLst>
    <p:sldMasterId xmlns:r="http://schemas.openxmlformats.org/officeDocument/2006/relationships" id="2147483648" r:id="R3db0a88513524643"/>
  </p:sldMasterIdLst>
  <p:notesMasterIdLst>
    <p:notesMasterId xmlns:r="http://schemas.openxmlformats.org/officeDocument/2006/relationships" r:id="R7d2d86b5932a4c2b"/>
  </p:notesMasterIdLst>
  <p:sldIdLst>
    <p:sldId xmlns:r="http://schemas.openxmlformats.org/officeDocument/2006/relationships" id="256" r:id="R91051bf3753b458b"/>
    <p:sldId xmlns:r="http://schemas.openxmlformats.org/officeDocument/2006/relationships" id="257" r:id="R4de9413260a64e42"/>
    <p:sldId xmlns:r="http://schemas.openxmlformats.org/officeDocument/2006/relationships" id="258" r:id="Rdbe578dc643b46c2"/>
    <p:sldId xmlns:r="http://schemas.openxmlformats.org/officeDocument/2006/relationships" id="259" r:id="Rc25a5c5ef1a04b49"/>
    <p:sldId xmlns:r="http://schemas.openxmlformats.org/officeDocument/2006/relationships" id="260" r:id="Re1af33f995d8460f"/>
    <p:sldId xmlns:r="http://schemas.openxmlformats.org/officeDocument/2006/relationships" id="261" r:id="R4bc51eed840c4f96"/>
    <p:sldId xmlns:r="http://schemas.openxmlformats.org/officeDocument/2006/relationships" id="262" r:id="Rf46796548f4b4435"/>
    <p:sldId xmlns:r="http://schemas.openxmlformats.org/officeDocument/2006/relationships" id="263" r:id="R3522483d39f247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7b6e30e4584d24" /><Relationship Type="http://schemas.openxmlformats.org/officeDocument/2006/relationships/slideMaster" Target="/ppt/slideMasters/slideMaster1.xml" Id="R3db0a88513524643" /><Relationship Type="http://schemas.openxmlformats.org/officeDocument/2006/relationships/notesMaster" Target="/ppt/notesMasters/notesMaster1.xml" Id="R7d2d86b5932a4c2b" /><Relationship Type="http://schemas.openxmlformats.org/officeDocument/2006/relationships/presProps" Target="/ppt/presProps.xml" Id="R9ae9288942924367" /><Relationship Type="http://schemas.openxmlformats.org/officeDocument/2006/relationships/tableStyles" Target="/ppt/tableStyles.xml" Id="R20d9cf719e2542a1" /><Relationship Type="http://schemas.openxmlformats.org/officeDocument/2006/relationships/slide" Target="/ppt/slides/slide1.xml" Id="R91051bf3753b458b" /><Relationship Type="http://schemas.openxmlformats.org/officeDocument/2006/relationships/slide" Target="/ppt/slides/slide2.xml" Id="R4de9413260a64e42" /><Relationship Type="http://schemas.openxmlformats.org/officeDocument/2006/relationships/slide" Target="/ppt/slides/slide3.xml" Id="Rdbe578dc643b46c2" /><Relationship Type="http://schemas.openxmlformats.org/officeDocument/2006/relationships/slide" Target="/ppt/slides/slide4.xml" Id="Rc25a5c5ef1a04b49" /><Relationship Type="http://schemas.openxmlformats.org/officeDocument/2006/relationships/slide" Target="/ppt/slides/slide5.xml" Id="Re1af33f995d8460f" /><Relationship Type="http://schemas.openxmlformats.org/officeDocument/2006/relationships/slide" Target="/ppt/slides/slide6.xml" Id="R4bc51eed840c4f96" /><Relationship Type="http://schemas.openxmlformats.org/officeDocument/2006/relationships/slide" Target="/ppt/slides/slide7.xml" Id="Rf46796548f4b4435" /><Relationship Type="http://schemas.openxmlformats.org/officeDocument/2006/relationships/slide" Target="/ppt/slides/slide8.xml" Id="R3522483d39f247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1a236f2ec241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f2a0d46f6f48d6" /><Relationship Type="http://schemas.openxmlformats.org/officeDocument/2006/relationships/notesMaster" Target="/ppt/notesMasters/notesMaster1.xml" Id="R8958e8144c0342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2c52be68a74274" /><Relationship Type="http://schemas.openxmlformats.org/officeDocument/2006/relationships/notesMaster" Target="/ppt/notesMasters/notesMaster1.xml" Id="Ra88db89e6d3e49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68c1804fa841f3" /><Relationship Type="http://schemas.openxmlformats.org/officeDocument/2006/relationships/notesMaster" Target="/ppt/notesMasters/notesMaster1.xml" Id="Ref566218e1d141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05770d76274576" /><Relationship Type="http://schemas.openxmlformats.org/officeDocument/2006/relationships/notesMaster" Target="/ppt/notesMasters/notesMaster1.xml" Id="Reb54ab13d9004f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4353aa3a2b47c4" /><Relationship Type="http://schemas.openxmlformats.org/officeDocument/2006/relationships/notesMaster" Target="/ppt/notesMasters/notesMaster1.xml" Id="R5568989e96de49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b89d611309450d" /><Relationship Type="http://schemas.openxmlformats.org/officeDocument/2006/relationships/notesMaster" Target="/ppt/notesMasters/notesMaster1.xml" Id="R54c31689532245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1206985995417e" /><Relationship Type="http://schemas.openxmlformats.org/officeDocument/2006/relationships/notesMaster" Target="/ppt/notesMasters/notesMaster1.xml" Id="Rcbbe25c41a8f42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60c925c3d44092" /><Relationship Type="http://schemas.openxmlformats.org/officeDocument/2006/relationships/notesMaster" Target="/ppt/notesMasters/notesMaster1.xml" Id="Rc5dda872da2e43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“Our project helps someone decide what to do with one waste item. We are presenting the Smart Recycling Assistant for Code Clash Problem Statement 06.”</a:t>
            </a:r>
          </a:p>
          <a:p xmlns:a="http://schemas.openxmlformats.org/drawingml/2006/main">
            <a:r>
              <a:t/>
            </a:r>
          </a:p>
          <a:p xmlns:a="http://schemas.openxmlformats.org/drawingml/2006/main">
            <a:r>
              <a:t>Source: https://github.com/Rahul-crypto8055/waste-management (repository README); https://www.dsu.edu.in/code-clash/ (official Code Clash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everyday decision first. The event brief asks teams on this track to identify recyclable, reusable, biodegradable and hazardous materials, track their flow in a digital twin, and provide recommendations with Generative AI. The site lists judging for technical implementation (30%), innovation and creativity (25%), practicality and impact (20%), presentation and demo (15%), and teamwork (10%).</a:t>
            </a:r>
          </a:p>
          <a:p xmlns:a="http://schemas.openxmlformats.org/drawingml/2006/main">
            <a:r>
              <a:t/>
            </a:r>
          </a:p>
          <a:p xmlns:a="http://schemas.openxmlformats.org/drawingml/2006/main">
            <a:r>
              <a:t>Source: https://www.dsu.edu.in/code-clash/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README describes a webcam, image upload and a curated sample library. It lists four material categories, confidence scores, preparation and safety guidance, upcycle suggestions, a scan history, and CSV/JSON export. Say “suggested category” because this is a prototype and predictions should be checked.</a:t>
            </a:r>
          </a:p>
          <a:p xmlns:a="http://schemas.openxmlformats.org/drawingml/2006/main">
            <a:r>
              <a:t/>
            </a:r>
          </a:p>
          <a:p xmlns:a="http://schemas.openxmlformats.org/drawingml/2006/main">
            <a:r>
              <a:t>Source: https://github.com/Rahul-crypto8055/waste-management (README). The source code and live demo were not independently executed while preparing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sequence slowly: select an item, show the model’s suggested category and confidence, explain the advice, then show the twin route and log. The repository says it includes sample items for one-click demonstrations; keep that library ready as a fallback.</a:t>
            </a:r>
          </a:p>
          <a:p xmlns:a="http://schemas.openxmlformats.org/drawingml/2006/main">
            <a:r>
              <a:t/>
            </a:r>
          </a:p>
          <a:p xmlns:a="http://schemas.openxmlformats.org/drawingml/2006/main">
            <a:r>
              <a:t>Source: https://github.com/Rahul-crypto8055/waste-management (README). Verify the live camera and current deployment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that this is a digital twin simulation: items move through a visual facility model and the dashboard updates demo telemetry. The README names four destinations and lists mass, landfill diversion, carbon, water and energy counters. Do not present these counters as measured environmental savings or a connection to a real facility.</a:t>
            </a:r>
          </a:p>
          <a:p xmlns:a="http://schemas.openxmlformats.org/drawingml/2006/main">
            <a:r>
              <a:t/>
            </a:r>
          </a:p>
          <a:p xmlns:a="http://schemas.openxmlformats.org/drawingml/2006/main">
            <a:r>
              <a:t>Source: https://github.com/Rahul-crypto8055/waste-management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stack without claiming you trained a new model: the README describes TensorFlow.js with COCO-SSD in the browser, Node.js for the local server and API, a Python companion script, and an optional Gemini advisor with a rule-based fallback. A Gemini key must be configured for the live model path. The README also says Vercel persistence is ephemeral and exports are created client-side. These are repository-documented details; this deck did not independently run the code.</a:t>
            </a:r>
          </a:p>
          <a:p xmlns:a="http://schemas.openxmlformats.org/drawingml/2006/main">
            <a:r>
              <a:t/>
            </a:r>
          </a:p>
          <a:p xmlns:a="http://schemas.openxmlformats.org/drawingml/2006/main">
            <a:r>
              <a:t>Source: https://github.com/Rahul-crypto8055/waste-management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impact as the project’s goal, not a proven result: help users separate materials and make safer choices. Then state the limits clearly: the twin is simulated, environmental counters are estimates, and model results and disposal guidance need local validation. A credible next step is to test with labeled local waste and compare the model’s suggestions against human review, then connect measured facility data.</a:t>
            </a:r>
          </a:p>
          <a:p xmlns:a="http://schemas.openxmlformats.org/drawingml/2006/main">
            <a:r>
              <a:t/>
            </a:r>
          </a:p>
          <a:p xmlns:a="http://schemas.openxmlformats.org/drawingml/2006/main">
            <a:r>
              <a:t>Source: https://github.com/Rahul-crypto8055/waste-management (README describes simulated telemetry); https://www.dsu.edu.in/code-clash/ (track goal).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script: “I’ll choose a PET bottle. The model suggests recyclable and shows its confidence. Here is the preparation advice. The twin now sends the item to the materials recovery route; this flow and its impact counters are simulated. The audit log can be exported.” Test the deployed build, webcam permission, model load, Gemini key path and export before the pitch. If the camera or network fails, switch to the curated specimen library.</a:t>
            </a:r>
          </a:p>
          <a:p xmlns:a="http://schemas.openxmlformats.org/drawingml/2006/main">
            <a:r>
              <a:t/>
            </a:r>
          </a:p>
          <a:p xmlns:a="http://schemas.openxmlformats.org/drawingml/2006/main">
            <a:r>
              <a:t>Source: https://github.com/Rahul-crypto8055/waste-management (README); https://www.dsu.edu.in/code-clash/ (submission and demo requirements). The live deployment was not independently run while preparing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7aa8f0dd0d4c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fd47137a594b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3bec297a2e4d1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b84331ccab46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e3af8c636540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97eea3e12a46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CF31D9-9FC4-4DA4-9210-B149EB00520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DB4931-5B41-4C44-9A25-5B02EBAA39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BC91AE5-9A47-400A-960E-7D52A79EFC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734512-9FF7-49DE-A77A-C0CBDB04F7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7DA299-B4F3-40C3-9956-1CA557994D7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BD6A9EA-4667-4548-84D3-A2E6436D0F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6A84BC-09E2-48A0-AAF5-86A71EE665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00EF49-26C6-4C59-8C4D-76DE906F9FE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3BA668-6F91-492B-A448-8CCDA90A11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526818-FABB-4E32-BDFF-45C0E1219D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ed1f07961d4930" /><Relationship Type="http://schemas.openxmlformats.org/officeDocument/2006/relationships/slideLayout" Target="/ppt/slideLayouts/slideLayout1.xml" Id="R3b07545580a84191" /><Relationship Type="http://schemas.openxmlformats.org/officeDocument/2006/relationships/slideLayout" Target="/ppt/slideLayouts/slideLayout2.xml" Id="R456daf08301648c3" /><Relationship Type="http://schemas.openxmlformats.org/officeDocument/2006/relationships/slideLayout" Target="/ppt/slideLayouts/slideLayout3.xml" Id="R554cd2b67a454e7a" /><Relationship Type="http://schemas.openxmlformats.org/officeDocument/2006/relationships/slideLayout" Target="/ppt/slideLayouts/slideLayout4.xml" Id="Re7eb4af2a7104550" /><Relationship Type="http://schemas.openxmlformats.org/officeDocument/2006/relationships/slideLayout" Target="/ppt/slideLayouts/slideLayout5.xml" Id="R2ec6a534ce264710" /><Relationship Type="http://schemas.openxmlformats.org/officeDocument/2006/relationships/slideLayout" Target="/ppt/slideLayouts/slideLayout6.xml" Id="Rf8b96c6aa9254a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07545580a84191"/>
    <p:sldLayoutId xmlns:r="http://schemas.openxmlformats.org/officeDocument/2006/relationships" id="2147483650" r:id="R456daf08301648c3"/>
    <p:sldLayoutId xmlns:r="http://schemas.openxmlformats.org/officeDocument/2006/relationships" id="2147483651" r:id="R554cd2b67a454e7a"/>
    <p:sldLayoutId xmlns:r="http://schemas.openxmlformats.org/officeDocument/2006/relationships" id="2147483652" r:id="Re7eb4af2a7104550"/>
    <p:sldLayoutId xmlns:r="http://schemas.openxmlformats.org/officeDocument/2006/relationships" id="2147483653" r:id="R2ec6a534ce264710"/>
    <p:sldLayoutId xmlns:r="http://schemas.openxmlformats.org/officeDocument/2006/relationships" id="2147483654" r:id="Rf8b96c6aa9254a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51c74bd3fa4a20" /><Relationship Type="http://schemas.openxmlformats.org/officeDocument/2006/relationships/notesSlide" Target="/ppt/notesSlides/notesSlide1.xml" Id="R9c0e984b623e4c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a9067adec264e6e" /><Relationship Type="http://schemas.openxmlformats.org/officeDocument/2006/relationships/notesSlide" Target="/ppt/notesSlides/notesSlide2.xml" Id="R8aeb6112dc0b42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06537c8222e4cb3" /><Relationship Type="http://schemas.openxmlformats.org/officeDocument/2006/relationships/notesSlide" Target="/ppt/notesSlides/notesSlide3.xml" Id="R1571f1bd96ea41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85f06d830b4fac" /><Relationship Type="http://schemas.openxmlformats.org/officeDocument/2006/relationships/notesSlide" Target="/ppt/notesSlides/notesSlide4.xml" Id="R81fa7905dc4143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99e7b6c6ba4cc5" /><Relationship Type="http://schemas.openxmlformats.org/officeDocument/2006/relationships/notesSlide" Target="/ppt/notesSlides/notesSlide5.xml" Id="R834307434d8841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7385985c9554064" /><Relationship Type="http://schemas.openxmlformats.org/officeDocument/2006/relationships/notesSlide" Target="/ppt/notesSlides/notesSlide6.xml" Id="R3c20c5473a204d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eb0f682101450d" /><Relationship Type="http://schemas.openxmlformats.org/officeDocument/2006/relationships/notesSlide" Target="/ppt/notesSlides/notesSlide7.xml" Id="Rfd2613e3f69e41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cb110b1400d4b2d" /><Relationship Type="http://schemas.openxmlformats.org/officeDocument/2006/relationships/notesSlide" Target="/ppt/notesSlides/notesSlide8.xml" Id="R369b29393d6b455e" /></Relationships>
</file>

<file path=ppt/slides/slide1.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7" name="cover-track">
            <a:extLst xmlns:a="http://schemas.openxmlformats.org/drawingml/2006/main">
              <a:ext uri="{FF2B5EF4-FFF2-40B4-BE49-F238E27FC236}">
                <a16:creationId xmlns:a16="http://schemas.microsoft.com/office/drawing/2014/main" id="{E0724BCE-DFB7-4E57-812B-DACB9AAC36F4}"/>
              </a:ext>
            </a:extLst>
          </p:cNvPr>
          <p:cNvSpPr>
            <a:spLocks xmlns:a="http://schemas.openxmlformats.org/drawingml/2006/main" noGrp="1"/>
          </p:cNvSpPr>
          <p:nvPr/>
        </p:nvSpPr>
        <p:spPr>
          <a:xfrm xmlns:a="http://schemas.openxmlformats.org/drawingml/2006/main">
            <a:off x="838200" y="87630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C6E86B"/>
                </a:solidFill>
                <a:latin typeface="Arial"/>
                <a:ea typeface="Arial"/>
                <a:cs typeface="Arial"/>
              </a:defRPr>
            </a:defPPr>
          </a:lstStyle>
          <a:p xmlns:a="http://schemas.openxmlformats.org/drawingml/2006/main">
            <a:pPr algn="l">
              <a:lnSpc>
                <a:spcPct val="105000"/>
              </a:lnSpc>
              <a:buNone/>
              <a:defRPr sz="1425" b="1">
                <a:solidFill>
                  <a:srgbClr val="C6E86B"/>
                </a:solidFill>
                <a:latin typeface="Arial"/>
                <a:ea typeface="Arial"/>
                <a:cs typeface="Arial"/>
              </a:defRPr>
            </a:pPr>
            <a:r>
              <a:rPr sz="1425" b="1">
                <a:solidFill>
                  <a:srgbClr val="C6E86B"/>
                </a:solidFill>
                <a:latin typeface="Arial"/>
                <a:ea typeface="Arial"/>
                <a:cs typeface="Arial"/>
              </a:rPr>
              <a:t>DSU CODE CLASH 2.0  /  PROBLEM STATEMENT 06</a:t>
            </a:r>
          </a:p>
        </p:txBody>
      </p:sp>
      <p:sp>
        <p:nvSpPr>
          <p:cNvPr id="2" name="cover-title">
            <a:extLst xmlns:a="http://schemas.openxmlformats.org/drawingml/2006/main">
              <a:ext uri="{FF2B5EF4-FFF2-40B4-BE49-F238E27FC236}">
                <a16:creationId xmlns:a16="http://schemas.microsoft.com/office/drawing/2014/main" id="{3C6C3F1F-87C3-44E4-A805-EB1007BF1118}"/>
              </a:ext>
            </a:extLst>
          </p:cNvPr>
          <p:cNvSpPr>
            <a:spLocks xmlns:a="http://schemas.openxmlformats.org/drawingml/2006/main" noGrp="1"/>
          </p:cNvSpPr>
          <p:nvPr/>
        </p:nvSpPr>
        <p:spPr>
          <a:xfrm xmlns:a="http://schemas.openxmlformats.org/drawingml/2006/main">
            <a:off x="838200" y="1952625"/>
            <a:ext cx="75247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stStyle>
          <a:p xmlns:a="http://schemas.openxmlformats.org/drawingml/2006/main">
            <a:pPr algn="l">
              <a:lnSpc>
                <a:spcPct val="94000"/>
              </a:lnSpc>
              <a:buNone/>
              <a:defRPr sz="4650" b="1">
                <a:solidFill>
                  <a:srgbClr val="FFFFFF"/>
                </a:solidFill>
                <a:latin typeface="Arial"/>
                <a:ea typeface="Arial"/>
                <a:cs typeface="Arial"/>
              </a:defRPr>
            </a:pPr>
            <a:r>
              <a:rPr sz="4650" b="1">
                <a:solidFill>
                  <a:srgbClr val="FFFFFF"/>
                </a:solidFill>
                <a:latin typeface="Arial"/>
                <a:ea typeface="Arial"/>
                <a:cs typeface="Arial"/>
              </a:rPr>
              <a:t>Smart Recycling</a:t>
            </a:r>
          </a:p>
          <a:p xmlns:a="http://schemas.openxmlformats.org/drawingml/2006/main">
            <a:pPr algn="l">
              <a:lnSpc>
                <a:spcPct val="94000"/>
              </a:lnSpc>
              <a:buNone/>
              <a:defRPr sz="4650" b="1">
                <a:solidFill>
                  <a:srgbClr val="FFFFFF"/>
                </a:solidFill>
                <a:latin typeface="Arial"/>
                <a:ea typeface="Arial"/>
                <a:cs typeface="Arial"/>
              </a:defRPr>
            </a:pPr>
            <a:r>
              <a:rPr sz="4650" b="1">
                <a:solidFill>
                  <a:srgbClr val="FFFFFF"/>
                </a:solidFill>
                <a:latin typeface="Arial"/>
                <a:ea typeface="Arial"/>
                <a:cs typeface="Arial"/>
              </a:rPr>
              <a:t>Assistant</a:t>
            </a:r>
          </a:p>
        </p:txBody>
      </p:sp>
      <p:sp>
        <p:nvSpPr>
          <p:cNvPr id="3" name="cover-subtitle">
            <a:extLst xmlns:a="http://schemas.openxmlformats.org/drawingml/2006/main">
              <a:ext uri="{FF2B5EF4-FFF2-40B4-BE49-F238E27FC236}">
                <a16:creationId xmlns:a16="http://schemas.microsoft.com/office/drawing/2014/main" id="{82F02B13-3B1B-48AA-88BF-27655769C17A}"/>
              </a:ext>
            </a:extLst>
          </p:cNvPr>
          <p:cNvSpPr>
            <a:spLocks xmlns:a="http://schemas.openxmlformats.org/drawingml/2006/main" noGrp="1"/>
          </p:cNvSpPr>
          <p:nvPr/>
        </p:nvSpPr>
        <p:spPr>
          <a:xfrm xmlns:a="http://schemas.openxmlformats.org/drawingml/2006/main">
            <a:off x="876300" y="3943350"/>
            <a:ext cx="685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D8E4DC"/>
                </a:solidFill>
                <a:latin typeface="Arial"/>
                <a:ea typeface="Arial"/>
                <a:cs typeface="Arial"/>
              </a:defRPr>
            </a:defPPr>
          </a:lstStyle>
          <a:p xmlns:a="http://schemas.openxmlformats.org/drawingml/2006/main">
            <a:pPr algn="l">
              <a:lnSpc>
                <a:spcPct val="108000"/>
              </a:lnSpc>
              <a:buNone/>
              <a:defRPr sz="2100" b="1">
                <a:solidFill>
                  <a:srgbClr val="D8E4DC"/>
                </a:solidFill>
                <a:latin typeface="Arial"/>
                <a:ea typeface="Arial"/>
                <a:cs typeface="Arial"/>
              </a:defRPr>
            </a:pPr>
            <a:r>
              <a:rPr sz="2100" b="1">
                <a:solidFill>
                  <a:srgbClr val="D8E4DC"/>
                </a:solidFill>
                <a:latin typeface="Arial"/>
                <a:ea typeface="Arial"/>
                <a:cs typeface="Arial"/>
              </a:rPr>
              <a:t>A SIMPLE GUIDE FROM WASTE ITEM</a:t>
            </a:r>
          </a:p>
          <a:p xmlns:a="http://schemas.openxmlformats.org/drawingml/2006/main">
            <a:pPr algn="l">
              <a:lnSpc>
                <a:spcPct val="108000"/>
              </a:lnSpc>
              <a:buNone/>
              <a:defRPr sz="2100" b="1">
                <a:solidFill>
                  <a:srgbClr val="D8E4DC"/>
                </a:solidFill>
                <a:latin typeface="Arial"/>
                <a:ea typeface="Arial"/>
                <a:cs typeface="Arial"/>
              </a:defRPr>
            </a:pPr>
            <a:r>
              <a:rPr sz="2100" b="1">
                <a:solidFill>
                  <a:srgbClr val="D8E4DC"/>
                </a:solidFill>
                <a:latin typeface="Arial"/>
                <a:ea typeface="Arial"/>
                <a:cs typeface="Arial"/>
              </a:rPr>
              <a:t>TO ITS NEXT BEST ACTION</a:t>
            </a:r>
          </a:p>
        </p:txBody>
      </p:sp>
      <p:sp>
        <p:nvSpPr>
          <p:cNvPr id="6" name="cover-tech">
            <a:extLst xmlns:a="http://schemas.openxmlformats.org/drawingml/2006/main">
              <a:ext uri="{FF2B5EF4-FFF2-40B4-BE49-F238E27FC236}">
                <a16:creationId xmlns:a16="http://schemas.microsoft.com/office/drawing/2014/main" id="{D6D7AB3B-A488-47EE-AC43-D15E64FA66D6}"/>
              </a:ext>
            </a:extLst>
          </p:cNvPr>
          <p:cNvSpPr>
            <a:spLocks xmlns:a="http://schemas.openxmlformats.org/drawingml/2006/main" noGrp="1"/>
          </p:cNvSpPr>
          <p:nvPr/>
        </p:nvSpPr>
        <p:spPr>
          <a:xfrm xmlns:a="http://schemas.openxmlformats.org/drawingml/2006/main">
            <a:off x="876300" y="619125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C6E86B"/>
                </a:solidFill>
                <a:latin typeface="Arial"/>
                <a:ea typeface="Arial"/>
                <a:cs typeface="Arial"/>
              </a:defRPr>
            </a:defPPr>
          </a:lstStyle>
          <a:p xmlns:a="http://schemas.openxmlformats.org/drawingml/2006/main">
            <a:pPr algn="l">
              <a:lnSpc>
                <a:spcPct val="105000"/>
              </a:lnSpc>
              <a:buNone/>
              <a:defRPr sz="1575" b="1">
                <a:solidFill>
                  <a:srgbClr val="C6E86B"/>
                </a:solidFill>
                <a:latin typeface="Arial"/>
                <a:ea typeface="Arial"/>
                <a:cs typeface="Arial"/>
              </a:defRPr>
            </a:pPr>
            <a:r>
              <a:rPr sz="1575" b="1">
                <a:solidFill>
                  <a:srgbClr val="C6E86B"/>
                </a:solidFill>
                <a:latin typeface="Arial"/>
                <a:ea typeface="Arial"/>
                <a:cs typeface="Arial"/>
              </a:rPr>
              <a:t>Computer vision  ·  Digital twin  ·  Generative AI</a:t>
            </a:r>
          </a:p>
        </p:txBody>
      </p:sp>
      <p:sp>
        <p:nvSpPr>
          <p:cNvPr id="8" name="cover-team-label">
            <a:extLst xmlns:a="http://schemas.openxmlformats.org/drawingml/2006/main">
              <a:ext uri="{FF2B5EF4-FFF2-40B4-BE49-F238E27FC236}">
                <a16:creationId xmlns:a16="http://schemas.microsoft.com/office/drawing/2014/main" id="{8A962B74-DE27-4780-ABD2-30DEC76F725E}"/>
              </a:ext>
            </a:extLst>
          </p:cNvPr>
          <p:cNvSpPr>
            <a:spLocks xmlns:a="http://schemas.openxmlformats.org/drawingml/2006/main" noGrp="1"/>
          </p:cNvSpPr>
          <p:nvPr/>
        </p:nvSpPr>
        <p:spPr>
          <a:xfrm xmlns:a="http://schemas.openxmlformats.org/drawingml/2006/main">
            <a:off x="876300" y="49149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1">
                <a:solidFill>
                  <a:srgbClr val="C6E86B"/>
                </a:solidFill>
                <a:latin typeface="Arial"/>
                <a:ea typeface="Arial"/>
                <a:cs typeface="Arial"/>
              </a:defRPr>
            </a:defPPr>
          </a:lstStyle>
          <a:p xmlns:a="http://schemas.openxmlformats.org/drawingml/2006/main">
            <a:pPr algn="l">
              <a:buNone/>
              <a:defRPr sz="1200" b="1">
                <a:solidFill>
                  <a:srgbClr val="C6E86B"/>
                </a:solidFill>
                <a:latin typeface="Arial"/>
                <a:ea typeface="Arial"/>
                <a:cs typeface="Arial"/>
              </a:defRPr>
            </a:pPr>
            <a:r>
              <a:rPr sz="1200" b="1">
                <a:solidFill>
                  <a:srgbClr val="C6E86B"/>
                </a:solidFill>
                <a:latin typeface="Arial"/>
                <a:ea typeface="Arial"/>
                <a:cs typeface="Arial"/>
              </a:rPr>
              <a:t>TEAM  ·  USN</a:t>
            </a:r>
          </a:p>
        </p:txBody>
      </p:sp>
      <p:sp>
        <p:nvSpPr>
          <p:cNvPr id="9" name="cover-team-roster">
            <a:extLst xmlns:a="http://schemas.openxmlformats.org/drawingml/2006/main">
              <a:ext uri="{FF2B5EF4-FFF2-40B4-BE49-F238E27FC236}">
                <a16:creationId xmlns:a16="http://schemas.microsoft.com/office/drawing/2014/main" id="{F86D3E01-75DE-460F-AF8A-AB4AFE6EE624}"/>
              </a:ext>
            </a:extLst>
          </p:cNvPr>
          <p:cNvSpPr>
            <a:spLocks xmlns:a="http://schemas.openxmlformats.org/drawingml/2006/main" noGrp="1"/>
          </p:cNvSpPr>
          <p:nvPr/>
        </p:nvSpPr>
        <p:spPr>
          <a:xfrm xmlns:a="http://schemas.openxmlformats.org/drawingml/2006/main">
            <a:off x="876300" y="5162550"/>
            <a:ext cx="7239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D8E4DC"/>
                </a:solidFill>
                <a:latin typeface="Arial"/>
                <a:ea typeface="Arial"/>
                <a:cs typeface="Arial"/>
              </a:defRPr>
            </a:defPPr>
          </a:lstStyle>
          <a:p xmlns:a="http://schemas.openxmlformats.org/drawingml/2006/main">
            <a:pPr algn="l">
              <a:buNone/>
              <a:defRPr sz="1500" b="0">
                <a:solidFill>
                  <a:srgbClr val="D8E4DC"/>
                </a:solidFill>
                <a:latin typeface="Arial"/>
                <a:ea typeface="Arial"/>
                <a:cs typeface="Arial"/>
              </a:defRPr>
            </a:pPr>
            <a:r>
              <a:rPr sz="1500" b="0">
                <a:solidFill>
                  <a:srgbClr val="D8E4DC"/>
                </a:solidFill>
                <a:latin typeface="Arial"/>
                <a:ea typeface="Arial"/>
                <a:cs typeface="Arial"/>
              </a:rPr>
              <a:t>Rahul S.  ·  USN ENG24AM0257</a:t>
            </a:r>
          </a:p>
          <a:p xmlns:a="http://schemas.openxmlformats.org/drawingml/2006/main">
            <a:pPr algn="l">
              <a:buNone/>
              <a:defRPr sz="1500" b="0">
                <a:solidFill>
                  <a:srgbClr val="D8E4DC"/>
                </a:solidFill>
                <a:latin typeface="Arial"/>
                <a:ea typeface="Arial"/>
                <a:cs typeface="Arial"/>
              </a:defRPr>
            </a:pPr>
            <a:r>
              <a:rPr sz="1500" b="0">
                <a:solidFill>
                  <a:srgbClr val="D8E4DC"/>
                </a:solidFill>
                <a:latin typeface="Arial"/>
                <a:ea typeface="Arial"/>
                <a:cs typeface="Arial"/>
              </a:rPr>
              <a:t>HM Arya Krishna  ·  USN ENG24AS0033</a:t>
            </a:r>
          </a:p>
          <a:p xmlns:a="http://schemas.openxmlformats.org/drawingml/2006/main">
            <a:pPr algn="l">
              <a:buNone/>
              <a:defRPr sz="1500" b="0">
                <a:solidFill>
                  <a:srgbClr val="D8E4DC"/>
                </a:solidFill>
                <a:latin typeface="Arial"/>
                <a:ea typeface="Arial"/>
                <a:cs typeface="Arial"/>
              </a:defRPr>
            </a:pPr>
            <a:r>
              <a:rPr sz="1500" b="0">
                <a:solidFill>
                  <a:srgbClr val="D8E4DC"/>
                </a:solidFill>
                <a:latin typeface="Arial"/>
                <a:ea typeface="Arial"/>
                <a:cs typeface="Arial"/>
              </a:rPr>
              <a:t>Mahadeva Swamy  ·  USN ENG24AS0043</a:t>
            </a:r>
          </a:p>
        </p:txBody>
      </p:sp>
    </p:spTree>
    <p:extLst>
      <p:ext uri="{BB962C8B-B14F-4D97-AF65-F5344CB8AC3E}">
        <p14:creationId xmlns:p14="http://schemas.microsoft.com/office/powerpoint/2010/main" val="284114419"/>
      </p:ext>
    </p:extLst>
  </p:cSld>
</p:sld>
</file>

<file path=ppt/slides/slide2.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18" name="slide-2-title">
            <a:extLst xmlns:a="http://schemas.openxmlformats.org/drawingml/2006/main">
              <a:ext uri="{FF2B5EF4-FFF2-40B4-BE49-F238E27FC236}">
                <a16:creationId xmlns:a16="http://schemas.microsoft.com/office/drawing/2014/main" id="{2B7903FC-13A0-4469-8C00-8AA7B1756305}"/>
              </a:ext>
            </a:extLst>
          </p:cNvPr>
          <p:cNvSpPr>
            <a:spLocks xmlns:a="http://schemas.openxmlformats.org/drawingml/2006/main" noGrp="1"/>
          </p:cNvSpPr>
          <p:nvPr/>
        </p:nvSpPr>
        <p:spPr>
          <a:xfrm xmlns:a="http://schemas.openxmlformats.org/drawingml/2006/main">
            <a:off x="685800" y="5524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A2C"/>
                </a:solidFill>
                <a:latin typeface="Arial"/>
                <a:ea typeface="Arial"/>
                <a:cs typeface="Arial"/>
              </a:defRPr>
            </a:defPPr>
          </a:lstStyle>
          <a:p xmlns:a="http://schemas.openxmlformats.org/drawingml/2006/main">
            <a:pPr algn="l">
              <a:lnSpc>
                <a:spcPct val="95000"/>
              </a:lnSpc>
              <a:buNone/>
              <a:defRPr sz="3300" b="1">
                <a:solidFill>
                  <a:srgbClr val="172A2C"/>
                </a:solidFill>
                <a:latin typeface="Arial"/>
                <a:ea typeface="Arial"/>
                <a:cs typeface="Arial"/>
              </a:defRPr>
            </a:pPr>
            <a:r>
              <a:rPr sz="3300" b="1">
                <a:solidFill>
                  <a:srgbClr val="172A2C"/>
                </a:solidFill>
                <a:latin typeface="Arial"/>
                <a:ea typeface="Arial"/>
                <a:cs typeface="Arial"/>
              </a:rPr>
              <a:t>THE SORTING DECISION AT THE BIN</a:t>
            </a:r>
          </a:p>
        </p:txBody>
      </p:sp>
      <p:sp>
        <p:nvSpPr>
          <p:cNvPr id="2" name="slide-2-number">
            <a:extLst xmlns:a="http://schemas.openxmlformats.org/drawingml/2006/main">
              <a:ext uri="{FF2B5EF4-FFF2-40B4-BE49-F238E27FC236}">
                <a16:creationId xmlns:a16="http://schemas.microsoft.com/office/drawing/2014/main" id="{CF264647-7E9B-4D10-A614-97F200F08C90}"/>
              </a:ext>
            </a:extLst>
          </p:cNvPr>
          <p:cNvSpPr>
            <a:spLocks xmlns:a="http://schemas.openxmlformats.org/drawingml/2006/main" noGrp="1"/>
          </p:cNvSpPr>
          <p:nvPr/>
        </p:nvSpPr>
        <p:spPr>
          <a:xfrm xmlns:a="http://schemas.openxmlformats.org/drawingml/2006/main">
            <a:off x="11144250" y="63627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1">
                <a:solidFill>
                  <a:srgbClr val="536B6B"/>
                </a:solidFill>
                <a:latin typeface="Arial"/>
                <a:ea typeface="Arial"/>
                <a:cs typeface="Arial"/>
              </a:defRPr>
            </a:defPPr>
          </a:lstStyle>
          <a:p xmlns:a="http://schemas.openxmlformats.org/drawingml/2006/main">
            <a:pPr algn="r">
              <a:lnSpc>
                <a:spcPct val="105000"/>
              </a:lnSpc>
              <a:buNone/>
              <a:defRPr sz="1200" b="1">
                <a:solidFill>
                  <a:srgbClr val="536B6B"/>
                </a:solidFill>
                <a:latin typeface="Arial"/>
                <a:ea typeface="Arial"/>
                <a:cs typeface="Arial"/>
              </a:defRPr>
            </a:pPr>
            <a:r>
              <a:rPr sz="1200" b="1">
                <a:solidFill>
                  <a:srgbClr val="536B6B"/>
                </a:solidFill>
                <a:latin typeface="Arial"/>
                <a:ea typeface="Arial"/>
                <a:cs typeface="Arial"/>
              </a:rPr>
              <a:t>02</a:t>
            </a:r>
          </a:p>
        </p:txBody>
      </p:sp>
      <p:sp>
        <p:nvSpPr>
          <p:cNvPr id="3" name="problem-question">
            <a:extLst xmlns:a="http://schemas.openxmlformats.org/drawingml/2006/main">
              <a:ext uri="{FF2B5EF4-FFF2-40B4-BE49-F238E27FC236}">
                <a16:creationId xmlns:a16="http://schemas.microsoft.com/office/drawing/2014/main" id="{5D4872F6-E99B-4273-A5B5-A28BAE3F5B37}"/>
              </a:ext>
            </a:extLst>
          </p:cNvPr>
          <p:cNvSpPr>
            <a:spLocks xmlns:a="http://schemas.openxmlformats.org/drawingml/2006/main" noGrp="1"/>
          </p:cNvSpPr>
          <p:nvPr/>
        </p:nvSpPr>
        <p:spPr>
          <a:xfrm xmlns:a="http://schemas.openxmlformats.org/drawingml/2006/main">
            <a:off x="685800" y="1676400"/>
            <a:ext cx="533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67C78"/>
                </a:solidFill>
                <a:latin typeface="Arial"/>
                <a:ea typeface="Arial"/>
                <a:cs typeface="Arial"/>
              </a:defRPr>
            </a:defPPr>
          </a:lstStyle>
          <a:p xmlns:a="http://schemas.openxmlformats.org/drawingml/2006/main">
            <a:pPr algn="l">
              <a:lnSpc>
                <a:spcPct val="105000"/>
              </a:lnSpc>
              <a:buNone/>
              <a:defRPr sz="3225" b="1">
                <a:solidFill>
                  <a:srgbClr val="167C78"/>
                </a:solidFill>
                <a:latin typeface="Arial"/>
                <a:ea typeface="Arial"/>
                <a:cs typeface="Arial"/>
              </a:defRPr>
            </a:pPr>
            <a:r>
              <a:rPr sz="3225" b="1">
                <a:solidFill>
                  <a:srgbClr val="167C78"/>
                </a:solidFill>
                <a:latin typeface="Arial"/>
                <a:ea typeface="Arial"/>
                <a:cs typeface="Arial"/>
              </a:rPr>
              <a:t>Where does this go?</a:t>
            </a:r>
          </a:p>
        </p:txBody>
      </p:sp>
      <p:sp>
        <p:nvSpPr>
          <p:cNvPr id="4" name="problem-explanation">
            <a:extLst xmlns:a="http://schemas.openxmlformats.org/drawingml/2006/main">
              <a:ext uri="{FF2B5EF4-FFF2-40B4-BE49-F238E27FC236}">
                <a16:creationId xmlns:a16="http://schemas.microsoft.com/office/drawing/2014/main" id="{E2205DAC-6BDF-4E96-9D3B-6796273FA76E}"/>
              </a:ext>
            </a:extLst>
          </p:cNvPr>
          <p:cNvSpPr>
            <a:spLocks xmlns:a="http://schemas.openxmlformats.org/drawingml/2006/main" noGrp="1"/>
          </p:cNvSpPr>
          <p:nvPr/>
        </p:nvSpPr>
        <p:spPr>
          <a:xfrm xmlns:a="http://schemas.openxmlformats.org/drawingml/2006/main">
            <a:off x="685800" y="25908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A2C"/>
                </a:solidFill>
                <a:latin typeface="Arial"/>
                <a:ea typeface="Arial"/>
                <a:cs typeface="Arial"/>
              </a:defRPr>
            </a:defPPr>
          </a:lstStyle>
          <a:p xmlns:a="http://schemas.openxmlformats.org/drawingml/2006/main">
            <a:pPr algn="l">
              <a:lnSpc>
                <a:spcPct val="113000"/>
              </a:lnSpc>
              <a:buNone/>
              <a:defRPr sz="2025" b="0">
                <a:solidFill>
                  <a:srgbClr val="172A2C"/>
                </a:solidFill>
                <a:latin typeface="Arial"/>
                <a:ea typeface="Arial"/>
                <a:cs typeface="Arial"/>
              </a:defRPr>
            </a:pPr>
            <a:r>
              <a:rPr sz="2025" b="0">
                <a:solidFill>
                  <a:srgbClr val="172A2C"/>
                </a:solidFill>
                <a:latin typeface="Arial"/>
                <a:ea typeface="Arial"/>
                <a:cs typeface="Arial"/>
              </a:rPr>
              <a:t>A bottle, a food scrap and a battery need different next steps. Without clear guidance, useful material can be lost and risky items can end up in general waste.</a:t>
            </a:r>
          </a:p>
        </p:txBody>
      </p:sp>
      <p:sp>
        <p:nvSpPr>
          <p:cNvPr id="5" name="decision-label">
            <a:extLst xmlns:a="http://schemas.openxmlformats.org/drawingml/2006/main">
              <a:ext uri="{FF2B5EF4-FFF2-40B4-BE49-F238E27FC236}">
                <a16:creationId xmlns:a16="http://schemas.microsoft.com/office/drawing/2014/main" id="{233F6CB8-312F-4517-B491-13B8CCF36889}"/>
              </a:ext>
            </a:extLst>
          </p:cNvPr>
          <p:cNvSpPr>
            <a:spLocks xmlns:a="http://schemas.openxmlformats.org/drawingml/2006/main" noGrp="1"/>
          </p:cNvSpPr>
          <p:nvPr/>
        </p:nvSpPr>
        <p:spPr>
          <a:xfrm xmlns:a="http://schemas.openxmlformats.org/drawingml/2006/main">
            <a:off x="6572250" y="1704975"/>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6B6B"/>
                </a:solidFill>
                <a:latin typeface="Arial"/>
                <a:ea typeface="Arial"/>
                <a:cs typeface="Arial"/>
              </a:defRPr>
            </a:defPPr>
          </a:lstStyle>
          <a:p xmlns:a="http://schemas.openxmlformats.org/drawingml/2006/main">
            <a:pPr algn="l">
              <a:lnSpc>
                <a:spcPct val="105000"/>
              </a:lnSpc>
              <a:buNone/>
              <a:defRPr sz="1275" b="1">
                <a:solidFill>
                  <a:srgbClr val="536B6B"/>
                </a:solidFill>
                <a:latin typeface="Arial"/>
                <a:ea typeface="Arial"/>
                <a:cs typeface="Arial"/>
              </a:defRPr>
            </a:pPr>
            <a:r>
              <a:rPr sz="1275" b="1">
                <a:solidFill>
                  <a:srgbClr val="536B6B"/>
                </a:solidFill>
                <a:latin typeface="Arial"/>
                <a:ea typeface="Arial"/>
                <a:cs typeface="Arial"/>
              </a:rPr>
              <a:t>THE USER IS TRYING TO DECIDE</a:t>
            </a:r>
          </a:p>
        </p:txBody>
      </p:sp>
      <p:sp>
        <p:nvSpPr>
          <p:cNvPr id="6" name="decision-1">
            <a:extLst xmlns:a="http://schemas.openxmlformats.org/drawingml/2006/main">
              <a:ext uri="{FF2B5EF4-FFF2-40B4-BE49-F238E27FC236}">
                <a16:creationId xmlns:a16="http://schemas.microsoft.com/office/drawing/2014/main" id="{245A92B8-3AE3-4B8B-ADE2-75CFF4AB5941}"/>
              </a:ext>
            </a:extLst>
          </p:cNvPr>
          <p:cNvSpPr>
            <a:spLocks xmlns:a="http://schemas.openxmlformats.org/drawingml/2006/main" noGrp="1"/>
          </p:cNvSpPr>
          <p:nvPr/>
        </p:nvSpPr>
        <p:spPr>
          <a:xfrm xmlns:a="http://schemas.openxmlformats.org/drawingml/2006/main">
            <a:off x="6572250" y="21336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72A2C"/>
                </a:solidFill>
                <a:latin typeface="Arial"/>
                <a:ea typeface="Arial"/>
                <a:cs typeface="Arial"/>
              </a:defRPr>
            </a:defPPr>
          </a:lstStyle>
          <a:p xmlns:a="http://schemas.openxmlformats.org/drawingml/2006/main">
            <a:pPr algn="l">
              <a:lnSpc>
                <a:spcPct val="105000"/>
              </a:lnSpc>
              <a:buNone/>
              <a:defRPr sz="2100" b="0">
                <a:solidFill>
                  <a:srgbClr val="172A2C"/>
                </a:solidFill>
                <a:latin typeface="Arial"/>
                <a:ea typeface="Arial"/>
                <a:cs typeface="Arial"/>
              </a:defRPr>
            </a:pPr>
            <a:r>
              <a:rPr sz="2100" b="0">
                <a:solidFill>
                  <a:srgbClr val="172A2C"/>
                </a:solidFill>
                <a:latin typeface="Arial"/>
                <a:ea typeface="Arial"/>
                <a:cs typeface="Arial"/>
              </a:rPr>
              <a:t>Recycle it?</a:t>
            </a:r>
          </a:p>
        </p:txBody>
      </p:sp>
      <p:sp>
        <p:nvSpPr>
          <p:cNvPr id="7" name="decision-rule-1">
            <a:extLst xmlns:a="http://schemas.openxmlformats.org/drawingml/2006/main">
              <a:ext uri="{FF2B5EF4-FFF2-40B4-BE49-F238E27FC236}">
                <a16:creationId xmlns:a16="http://schemas.microsoft.com/office/drawing/2014/main" id="{2D2E8ACB-5AB0-46E3-B8FF-4BC96F566B0A}"/>
              </a:ext>
            </a:extLst>
          </p:cNvPr>
          <p:cNvSpPr>
            <a:spLocks xmlns:a="http://schemas.openxmlformats.org/drawingml/2006/main" noGrp="1"/>
          </p:cNvSpPr>
          <p:nvPr/>
        </p:nvSpPr>
        <p:spPr>
          <a:xfrm xmlns:a="http://schemas.openxmlformats.org/drawingml/2006/main">
            <a:off x="6572250" y="2581275"/>
            <a:ext cx="4095750" cy="9525"/>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8" name="decision-2">
            <a:extLst xmlns:a="http://schemas.openxmlformats.org/drawingml/2006/main">
              <a:ext uri="{FF2B5EF4-FFF2-40B4-BE49-F238E27FC236}">
                <a16:creationId xmlns:a16="http://schemas.microsoft.com/office/drawing/2014/main" id="{656205D5-5748-4718-A8AB-A71F55AAC5BC}"/>
              </a:ext>
            </a:extLst>
          </p:cNvPr>
          <p:cNvSpPr>
            <a:spLocks xmlns:a="http://schemas.openxmlformats.org/drawingml/2006/main" noGrp="1"/>
          </p:cNvSpPr>
          <p:nvPr/>
        </p:nvSpPr>
        <p:spPr>
          <a:xfrm xmlns:a="http://schemas.openxmlformats.org/drawingml/2006/main">
            <a:off x="6572250" y="2714625"/>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72A2C"/>
                </a:solidFill>
                <a:latin typeface="Arial"/>
                <a:ea typeface="Arial"/>
                <a:cs typeface="Arial"/>
              </a:defRPr>
            </a:defPPr>
          </a:lstStyle>
          <a:p xmlns:a="http://schemas.openxmlformats.org/drawingml/2006/main">
            <a:pPr algn="l">
              <a:lnSpc>
                <a:spcPct val="105000"/>
              </a:lnSpc>
              <a:buNone/>
              <a:defRPr sz="2100" b="0">
                <a:solidFill>
                  <a:srgbClr val="172A2C"/>
                </a:solidFill>
                <a:latin typeface="Arial"/>
                <a:ea typeface="Arial"/>
                <a:cs typeface="Arial"/>
              </a:defRPr>
            </a:pPr>
            <a:r>
              <a:rPr sz="2100" b="0">
                <a:solidFill>
                  <a:srgbClr val="172A2C"/>
                </a:solidFill>
                <a:latin typeface="Arial"/>
                <a:ea typeface="Arial"/>
                <a:cs typeface="Arial"/>
              </a:rPr>
              <a:t>Use it again?</a:t>
            </a:r>
          </a:p>
        </p:txBody>
      </p:sp>
      <p:sp>
        <p:nvSpPr>
          <p:cNvPr id="9" name="decision-rule-2">
            <a:extLst xmlns:a="http://schemas.openxmlformats.org/drawingml/2006/main">
              <a:ext uri="{FF2B5EF4-FFF2-40B4-BE49-F238E27FC236}">
                <a16:creationId xmlns:a16="http://schemas.microsoft.com/office/drawing/2014/main" id="{7DD6FF06-EB3B-40CA-B771-D3709BC7ACD4}"/>
              </a:ext>
            </a:extLst>
          </p:cNvPr>
          <p:cNvSpPr>
            <a:spLocks xmlns:a="http://schemas.openxmlformats.org/drawingml/2006/main" noGrp="1"/>
          </p:cNvSpPr>
          <p:nvPr/>
        </p:nvSpPr>
        <p:spPr>
          <a:xfrm xmlns:a="http://schemas.openxmlformats.org/drawingml/2006/main">
            <a:off x="6572250" y="3162300"/>
            <a:ext cx="4095750" cy="9525"/>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0" name="decision-3">
            <a:extLst xmlns:a="http://schemas.openxmlformats.org/drawingml/2006/main">
              <a:ext uri="{FF2B5EF4-FFF2-40B4-BE49-F238E27FC236}">
                <a16:creationId xmlns:a16="http://schemas.microsoft.com/office/drawing/2014/main" id="{4A9D7CCE-3424-47DA-BF30-1A74D5E2DA5D}"/>
              </a:ext>
            </a:extLst>
          </p:cNvPr>
          <p:cNvSpPr>
            <a:spLocks xmlns:a="http://schemas.openxmlformats.org/drawingml/2006/main" noGrp="1"/>
          </p:cNvSpPr>
          <p:nvPr/>
        </p:nvSpPr>
        <p:spPr>
          <a:xfrm xmlns:a="http://schemas.openxmlformats.org/drawingml/2006/main">
            <a:off x="6572250" y="329565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72A2C"/>
                </a:solidFill>
                <a:latin typeface="Arial"/>
                <a:ea typeface="Arial"/>
                <a:cs typeface="Arial"/>
              </a:defRPr>
            </a:defPPr>
          </a:lstStyle>
          <a:p xmlns:a="http://schemas.openxmlformats.org/drawingml/2006/main">
            <a:pPr algn="l">
              <a:lnSpc>
                <a:spcPct val="105000"/>
              </a:lnSpc>
              <a:buNone/>
              <a:defRPr sz="2100" b="0">
                <a:solidFill>
                  <a:srgbClr val="172A2C"/>
                </a:solidFill>
                <a:latin typeface="Arial"/>
                <a:ea typeface="Arial"/>
                <a:cs typeface="Arial"/>
              </a:defRPr>
            </a:pPr>
            <a:r>
              <a:rPr sz="2100" b="0">
                <a:solidFill>
                  <a:srgbClr val="172A2C"/>
                </a:solidFill>
                <a:latin typeface="Arial"/>
                <a:ea typeface="Arial"/>
                <a:cs typeface="Arial"/>
              </a:rPr>
              <a:t>Compost it?</a:t>
            </a:r>
          </a:p>
        </p:txBody>
      </p:sp>
      <p:sp>
        <p:nvSpPr>
          <p:cNvPr id="11" name="decision-rule-3">
            <a:extLst xmlns:a="http://schemas.openxmlformats.org/drawingml/2006/main">
              <a:ext uri="{FF2B5EF4-FFF2-40B4-BE49-F238E27FC236}">
                <a16:creationId xmlns:a16="http://schemas.microsoft.com/office/drawing/2014/main" id="{35AB1A02-1778-4263-BAA1-D1442CE2B11C}"/>
              </a:ext>
            </a:extLst>
          </p:cNvPr>
          <p:cNvSpPr>
            <a:spLocks xmlns:a="http://schemas.openxmlformats.org/drawingml/2006/main" noGrp="1"/>
          </p:cNvSpPr>
          <p:nvPr/>
        </p:nvSpPr>
        <p:spPr>
          <a:xfrm xmlns:a="http://schemas.openxmlformats.org/drawingml/2006/main">
            <a:off x="6572250" y="3743325"/>
            <a:ext cx="4095750" cy="9525"/>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2" name="decision-4">
            <a:extLst xmlns:a="http://schemas.openxmlformats.org/drawingml/2006/main">
              <a:ext uri="{FF2B5EF4-FFF2-40B4-BE49-F238E27FC236}">
                <a16:creationId xmlns:a16="http://schemas.microsoft.com/office/drawing/2014/main" id="{8CC54D66-5432-44FF-BC22-0CAD05468DDE}"/>
              </a:ext>
            </a:extLst>
          </p:cNvPr>
          <p:cNvSpPr>
            <a:spLocks xmlns:a="http://schemas.openxmlformats.org/drawingml/2006/main" noGrp="1"/>
          </p:cNvSpPr>
          <p:nvPr/>
        </p:nvSpPr>
        <p:spPr>
          <a:xfrm xmlns:a="http://schemas.openxmlformats.org/drawingml/2006/main">
            <a:off x="6572250" y="3876675"/>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65A4D"/>
                </a:solidFill>
                <a:latin typeface="Arial"/>
                <a:ea typeface="Arial"/>
                <a:cs typeface="Arial"/>
              </a:defRPr>
            </a:defPPr>
          </a:lstStyle>
          <a:p xmlns:a="http://schemas.openxmlformats.org/drawingml/2006/main">
            <a:pPr algn="l">
              <a:lnSpc>
                <a:spcPct val="105000"/>
              </a:lnSpc>
              <a:buNone/>
              <a:defRPr sz="2100" b="1">
                <a:solidFill>
                  <a:srgbClr val="B65A4D"/>
                </a:solidFill>
                <a:latin typeface="Arial"/>
                <a:ea typeface="Arial"/>
                <a:cs typeface="Arial"/>
              </a:defRPr>
            </a:pPr>
            <a:r>
              <a:rPr sz="2100" b="1">
                <a:solidFill>
                  <a:srgbClr val="B65A4D"/>
                </a:solidFill>
                <a:latin typeface="Arial"/>
                <a:ea typeface="Arial"/>
                <a:cs typeface="Arial"/>
              </a:rPr>
              <a:t>Handle it safely?</a:t>
            </a:r>
          </a:p>
        </p:txBody>
      </p:sp>
      <p:sp>
        <p:nvSpPr>
          <p:cNvPr id="13" name="brief-band">
            <a:extLst xmlns:a="http://schemas.openxmlformats.org/drawingml/2006/main">
              <a:ext uri="{FF2B5EF4-FFF2-40B4-BE49-F238E27FC236}">
                <a16:creationId xmlns:a16="http://schemas.microsoft.com/office/drawing/2014/main" id="{F7318621-B9F9-4B21-9CA4-C2DF7ABBBB79}"/>
              </a:ext>
            </a:extLst>
          </p:cNvPr>
          <p:cNvSpPr>
            <a:spLocks xmlns:a="http://schemas.openxmlformats.org/drawingml/2006/main" noGrp="1"/>
          </p:cNvSpPr>
          <p:nvPr/>
        </p:nvSpPr>
        <p:spPr>
          <a:xfrm xmlns:a="http://schemas.openxmlformats.org/drawingml/2006/main">
            <a:off x="685800" y="5219700"/>
            <a:ext cx="10820400" cy="838200"/>
          </a:xfrm>
          <a:prstGeom xmlns:a="http://schemas.openxmlformats.org/drawingml/2006/main" prst="roundRect">
            <a:avLst>
              <a:gd name="adj" fmla="val 13636"/>
            </a:avLst>
          </a:prstGeom>
          <a:solidFill xmlns:a="http://schemas.openxmlformats.org/drawingml/2006/main">
            <a:srgbClr val="142832"/>
          </a:solidFill>
          <a:ln xmlns:a="http://schemas.openxmlformats.org/drawingml/2006/main" w="0">
            <a:noFill/>
            <a:prstDash val="solid"/>
          </a:ln>
        </p:spPr>
      </p:sp>
      <p:sp>
        <p:nvSpPr>
          <p:cNvPr id="14" name="brief-heading">
            <a:extLst xmlns:a="http://schemas.openxmlformats.org/drawingml/2006/main">
              <a:ext uri="{FF2B5EF4-FFF2-40B4-BE49-F238E27FC236}">
                <a16:creationId xmlns:a16="http://schemas.microsoft.com/office/drawing/2014/main" id="{0A04D4FA-9882-4EF8-9322-CFB8325370A4}"/>
              </a:ext>
            </a:extLst>
          </p:cNvPr>
          <p:cNvSpPr>
            <a:spLocks xmlns:a="http://schemas.openxmlformats.org/drawingml/2006/main" noGrp="1"/>
          </p:cNvSpPr>
          <p:nvPr/>
        </p:nvSpPr>
        <p:spPr>
          <a:xfrm xmlns:a="http://schemas.openxmlformats.org/drawingml/2006/main">
            <a:off x="914400" y="5381625"/>
            <a:ext cx="1019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C6E86B"/>
                </a:solidFill>
                <a:latin typeface="Arial"/>
                <a:ea typeface="Arial"/>
                <a:cs typeface="Arial"/>
              </a:defRPr>
            </a:defPPr>
          </a:lstStyle>
          <a:p xmlns:a="http://schemas.openxmlformats.org/drawingml/2006/main">
            <a:pPr algn="l">
              <a:lnSpc>
                <a:spcPct val="105000"/>
              </a:lnSpc>
              <a:buNone/>
              <a:defRPr sz="1425" b="1">
                <a:solidFill>
                  <a:srgbClr val="C6E86B"/>
                </a:solidFill>
                <a:latin typeface="Arial"/>
                <a:ea typeface="Arial"/>
                <a:cs typeface="Arial"/>
              </a:defRPr>
            </a:pPr>
            <a:r>
              <a:rPr sz="1425" b="1">
                <a:solidFill>
                  <a:srgbClr val="C6E86B"/>
                </a:solidFill>
                <a:latin typeface="Arial"/>
                <a:ea typeface="Arial"/>
                <a:cs typeface="Arial"/>
              </a:rPr>
              <a:t>Code Clash Problem Statement 06 asks for</a:t>
            </a:r>
          </a:p>
        </p:txBody>
      </p:sp>
      <p:sp>
        <p:nvSpPr>
          <p:cNvPr id="15" name="brief-part-1">
            <a:extLst xmlns:a="http://schemas.openxmlformats.org/drawingml/2006/main">
              <a:ext uri="{FF2B5EF4-FFF2-40B4-BE49-F238E27FC236}">
                <a16:creationId xmlns:a16="http://schemas.microsoft.com/office/drawing/2014/main" id="{9924D636-8F26-4BCC-82F6-D934BD4666EC}"/>
              </a:ext>
            </a:extLst>
          </p:cNvPr>
          <p:cNvSpPr>
            <a:spLocks xmlns:a="http://schemas.openxmlformats.org/drawingml/2006/main" noGrp="1"/>
          </p:cNvSpPr>
          <p:nvPr/>
        </p:nvSpPr>
        <p:spPr>
          <a:xfrm xmlns:a="http://schemas.openxmlformats.org/drawingml/2006/main">
            <a:off x="914400" y="56959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Computer vision recognition</a:t>
            </a:r>
          </a:p>
        </p:txBody>
      </p:sp>
      <p:sp>
        <p:nvSpPr>
          <p:cNvPr id="16" name="brief-part-2">
            <a:extLst xmlns:a="http://schemas.openxmlformats.org/drawingml/2006/main">
              <a:ext uri="{FF2B5EF4-FFF2-40B4-BE49-F238E27FC236}">
                <a16:creationId xmlns:a16="http://schemas.microsoft.com/office/drawing/2014/main" id="{DC17FD84-81EE-4229-8A15-EA4469F8EB15}"/>
              </a:ext>
            </a:extLst>
          </p:cNvPr>
          <p:cNvSpPr>
            <a:spLocks xmlns:a="http://schemas.openxmlformats.org/drawingml/2006/main" noGrp="1"/>
          </p:cNvSpPr>
          <p:nvPr/>
        </p:nvSpPr>
        <p:spPr>
          <a:xfrm xmlns:a="http://schemas.openxmlformats.org/drawingml/2006/main">
            <a:off x="4495800" y="56959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Digital twin material flow</a:t>
            </a:r>
          </a:p>
        </p:txBody>
      </p:sp>
      <p:sp>
        <p:nvSpPr>
          <p:cNvPr id="17" name="brief-part-3">
            <a:extLst xmlns:a="http://schemas.openxmlformats.org/drawingml/2006/main">
              <a:ext uri="{FF2B5EF4-FFF2-40B4-BE49-F238E27FC236}">
                <a16:creationId xmlns:a16="http://schemas.microsoft.com/office/drawing/2014/main" id="{35A6A2BF-6D6B-42B3-B854-C123970331EB}"/>
              </a:ext>
            </a:extLst>
          </p:cNvPr>
          <p:cNvSpPr>
            <a:spLocks xmlns:a="http://schemas.openxmlformats.org/drawingml/2006/main" noGrp="1"/>
          </p:cNvSpPr>
          <p:nvPr/>
        </p:nvSpPr>
        <p:spPr>
          <a:xfrm xmlns:a="http://schemas.openxmlformats.org/drawingml/2006/main">
            <a:off x="8096250" y="56959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Generative AI recommendations</a:t>
            </a:r>
          </a:p>
        </p:txBody>
      </p:sp>
    </p:spTree>
    <p:extLst>
      <p:ext uri="{BB962C8B-B14F-4D97-AF65-F5344CB8AC3E}">
        <p14:creationId xmlns:p14="http://schemas.microsoft.com/office/powerpoint/2010/main" val="801535942"/>
      </p:ext>
    </p:extLst>
  </p:cSld>
</p:sld>
</file>

<file path=ppt/slides/slide3.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21" name="slide-3-title">
            <a:extLst xmlns:a="http://schemas.openxmlformats.org/drawingml/2006/main">
              <a:ext uri="{FF2B5EF4-FFF2-40B4-BE49-F238E27FC236}">
                <a16:creationId xmlns:a16="http://schemas.microsoft.com/office/drawing/2014/main" id="{EEDD48D1-2FD0-4274-ABAB-9FD2631557D3}"/>
              </a:ext>
            </a:extLst>
          </p:cNvPr>
          <p:cNvSpPr>
            <a:spLocks xmlns:a="http://schemas.openxmlformats.org/drawingml/2006/main" noGrp="1"/>
          </p:cNvSpPr>
          <p:nvPr/>
        </p:nvSpPr>
        <p:spPr>
          <a:xfrm xmlns:a="http://schemas.openxmlformats.org/drawingml/2006/main">
            <a:off x="685800" y="5524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A2C"/>
                </a:solidFill>
                <a:latin typeface="Arial"/>
                <a:ea typeface="Arial"/>
                <a:cs typeface="Arial"/>
              </a:defRPr>
            </a:defPPr>
          </a:lstStyle>
          <a:p xmlns:a="http://schemas.openxmlformats.org/drawingml/2006/main">
            <a:pPr algn="l">
              <a:lnSpc>
                <a:spcPct val="95000"/>
              </a:lnSpc>
              <a:buNone/>
              <a:defRPr sz="3300" b="1">
                <a:solidFill>
                  <a:srgbClr val="172A2C"/>
                </a:solidFill>
                <a:latin typeface="Arial"/>
                <a:ea typeface="Arial"/>
                <a:cs typeface="Arial"/>
              </a:defRPr>
            </a:pPr>
            <a:r>
              <a:rPr sz="3300" b="1">
                <a:solidFill>
                  <a:srgbClr val="172A2C"/>
                </a:solidFill>
                <a:latin typeface="Arial"/>
                <a:ea typeface="Arial"/>
                <a:cs typeface="Arial"/>
              </a:rPr>
              <a:t>FOUR MATERIAL GROUPS</a:t>
            </a:r>
          </a:p>
        </p:txBody>
      </p:sp>
      <p:sp>
        <p:nvSpPr>
          <p:cNvPr id="2" name="slide-3-number">
            <a:extLst xmlns:a="http://schemas.openxmlformats.org/drawingml/2006/main">
              <a:ext uri="{FF2B5EF4-FFF2-40B4-BE49-F238E27FC236}">
                <a16:creationId xmlns:a16="http://schemas.microsoft.com/office/drawing/2014/main" id="{4FC14EF1-34DD-4984-82B6-050F47FCED7B}"/>
              </a:ext>
            </a:extLst>
          </p:cNvPr>
          <p:cNvSpPr>
            <a:spLocks xmlns:a="http://schemas.openxmlformats.org/drawingml/2006/main" noGrp="1"/>
          </p:cNvSpPr>
          <p:nvPr/>
        </p:nvSpPr>
        <p:spPr>
          <a:xfrm xmlns:a="http://schemas.openxmlformats.org/drawingml/2006/main">
            <a:off x="11144250" y="63627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1">
                <a:solidFill>
                  <a:srgbClr val="536B6B"/>
                </a:solidFill>
                <a:latin typeface="Arial"/>
                <a:ea typeface="Arial"/>
                <a:cs typeface="Arial"/>
              </a:defRPr>
            </a:defPPr>
          </a:lstStyle>
          <a:p xmlns:a="http://schemas.openxmlformats.org/drawingml/2006/main">
            <a:pPr algn="r">
              <a:lnSpc>
                <a:spcPct val="105000"/>
              </a:lnSpc>
              <a:buNone/>
              <a:defRPr sz="1200" b="1">
                <a:solidFill>
                  <a:srgbClr val="536B6B"/>
                </a:solidFill>
                <a:latin typeface="Arial"/>
                <a:ea typeface="Arial"/>
                <a:cs typeface="Arial"/>
              </a:defRPr>
            </a:pPr>
            <a:r>
              <a:rPr sz="1200" b="1">
                <a:solidFill>
                  <a:srgbClr val="536B6B"/>
                </a:solidFill>
                <a:latin typeface="Arial"/>
                <a:ea typeface="Arial"/>
                <a:cs typeface="Arial"/>
              </a:rPr>
              <a:t>03</a:t>
            </a:r>
          </a:p>
        </p:txBody>
      </p:sp>
      <p:sp>
        <p:nvSpPr>
          <p:cNvPr id="3" name="groups-intro">
            <a:extLst xmlns:a="http://schemas.openxmlformats.org/drawingml/2006/main">
              <a:ext uri="{FF2B5EF4-FFF2-40B4-BE49-F238E27FC236}">
                <a16:creationId xmlns:a16="http://schemas.microsoft.com/office/drawing/2014/main" id="{B224F4B7-320F-4678-BC0E-2B9AF75DF07A}"/>
              </a:ext>
            </a:extLst>
          </p:cNvPr>
          <p:cNvSpPr>
            <a:spLocks xmlns:a="http://schemas.openxmlformats.org/drawingml/2006/main" noGrp="1"/>
          </p:cNvSpPr>
          <p:nvPr/>
        </p:nvSpPr>
        <p:spPr>
          <a:xfrm xmlns:a="http://schemas.openxmlformats.org/drawingml/2006/main">
            <a:off x="685800" y="137160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6B6B"/>
                </a:solidFill>
                <a:latin typeface="Arial"/>
                <a:ea typeface="Arial"/>
                <a:cs typeface="Arial"/>
              </a:defRPr>
            </a:defPPr>
          </a:lstStyle>
          <a:p xmlns:a="http://schemas.openxmlformats.org/drawingml/2006/main">
            <a:pPr algn="l">
              <a:lnSpc>
                <a:spcPct val="105000"/>
              </a:lnSpc>
              <a:buNone/>
              <a:defRPr sz="1800" b="0">
                <a:solidFill>
                  <a:srgbClr val="536B6B"/>
                </a:solidFill>
                <a:latin typeface="Arial"/>
                <a:ea typeface="Arial"/>
                <a:cs typeface="Arial"/>
              </a:defRPr>
            </a:pPr>
            <a:r>
              <a:rPr sz="1800" b="0">
                <a:solidFill>
                  <a:srgbClr val="536B6B"/>
                </a:solidFill>
                <a:latin typeface="Arial"/>
                <a:ea typeface="Arial"/>
                <a:cs typeface="Arial"/>
              </a:rPr>
              <a:t>The assistant gives an item a suggested category and a practical next step.</a:t>
            </a:r>
          </a:p>
        </p:txBody>
      </p:sp>
      <p:sp>
        <p:nvSpPr>
          <p:cNvPr id="4" name="group-title-1">
            <a:extLst xmlns:a="http://schemas.openxmlformats.org/drawingml/2006/main">
              <a:ext uri="{FF2B5EF4-FFF2-40B4-BE49-F238E27FC236}">
                <a16:creationId xmlns:a16="http://schemas.microsoft.com/office/drawing/2014/main" id="{1C2C35BB-E600-4FB0-BB1D-57F78D28953E}"/>
              </a:ext>
            </a:extLst>
          </p:cNvPr>
          <p:cNvSpPr>
            <a:spLocks xmlns:a="http://schemas.openxmlformats.org/drawingml/2006/main" noGrp="1"/>
          </p:cNvSpPr>
          <p:nvPr/>
        </p:nvSpPr>
        <p:spPr>
          <a:xfrm xmlns:a="http://schemas.openxmlformats.org/drawingml/2006/main">
            <a:off x="685800" y="219075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67C78"/>
                </a:solidFill>
                <a:latin typeface="Arial"/>
                <a:ea typeface="Arial"/>
                <a:cs typeface="Arial"/>
              </a:defRPr>
            </a:defPPr>
          </a:lstStyle>
          <a:p xmlns:a="http://schemas.openxmlformats.org/drawingml/2006/main">
            <a:pPr algn="l">
              <a:lnSpc>
                <a:spcPct val="105000"/>
              </a:lnSpc>
              <a:buNone/>
              <a:defRPr sz="2025" b="1">
                <a:solidFill>
                  <a:srgbClr val="167C78"/>
                </a:solidFill>
                <a:latin typeface="Arial"/>
                <a:ea typeface="Arial"/>
                <a:cs typeface="Arial"/>
              </a:defRPr>
            </a:pPr>
            <a:r>
              <a:rPr sz="2025" b="1">
                <a:solidFill>
                  <a:srgbClr val="167C78"/>
                </a:solidFill>
                <a:latin typeface="Arial"/>
                <a:ea typeface="Arial"/>
                <a:cs typeface="Arial"/>
              </a:rPr>
              <a:t>Recyclable</a:t>
            </a:r>
          </a:p>
        </p:txBody>
      </p:sp>
      <p:sp>
        <p:nvSpPr>
          <p:cNvPr id="5" name="group-examples-1">
            <a:extLst xmlns:a="http://schemas.openxmlformats.org/drawingml/2006/main">
              <a:ext uri="{FF2B5EF4-FFF2-40B4-BE49-F238E27FC236}">
                <a16:creationId xmlns:a16="http://schemas.microsoft.com/office/drawing/2014/main" id="{658F6B30-2360-4A9C-867E-825B58D1C632}"/>
              </a:ext>
            </a:extLst>
          </p:cNvPr>
          <p:cNvSpPr>
            <a:spLocks xmlns:a="http://schemas.openxmlformats.org/drawingml/2006/main" noGrp="1"/>
          </p:cNvSpPr>
          <p:nvPr/>
        </p:nvSpPr>
        <p:spPr>
          <a:xfrm xmlns:a="http://schemas.openxmlformats.org/drawingml/2006/main">
            <a:off x="685800" y="2781300"/>
            <a:ext cx="228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72A2C"/>
                </a:solidFill>
                <a:latin typeface="Arial"/>
                <a:ea typeface="Arial"/>
                <a:cs typeface="Arial"/>
              </a:defRPr>
            </a:defPPr>
          </a:lstStyle>
          <a:p xmlns:a="http://schemas.openxmlformats.org/drawingml/2006/main">
            <a:pPr algn="l">
              <a:lnSpc>
                <a:spcPct val="118000"/>
              </a:lnSpc>
              <a:buNone/>
              <a:defRPr sz="1725" b="0">
                <a:solidFill>
                  <a:srgbClr val="172A2C"/>
                </a:solidFill>
                <a:latin typeface="Arial"/>
                <a:ea typeface="Arial"/>
                <a:cs typeface="Arial"/>
              </a:defRPr>
            </a:pPr>
            <a:r>
              <a:rPr sz="1725" b="0">
                <a:solidFill>
                  <a:srgbClr val="172A2C"/>
                </a:solidFill>
                <a:latin typeface="Arial"/>
                <a:ea typeface="Arial"/>
                <a:cs typeface="Arial"/>
              </a:rPr>
              <a:t>PET bottles</a:t>
            </a:r>
          </a:p>
          <a:p xmlns:a="http://schemas.openxmlformats.org/drawingml/2006/main">
            <a:pPr algn="l">
              <a:lnSpc>
                <a:spcPct val="118000"/>
              </a:lnSpc>
              <a:buNone/>
              <a:defRPr sz="1725" b="0">
                <a:solidFill>
                  <a:srgbClr val="172A2C"/>
                </a:solidFill>
                <a:latin typeface="Arial"/>
                <a:ea typeface="Arial"/>
                <a:cs typeface="Arial"/>
              </a:defRPr>
            </a:pPr>
            <a:r>
              <a:rPr sz="1725" b="0">
                <a:solidFill>
                  <a:srgbClr val="172A2C"/>
                </a:solidFill>
                <a:latin typeface="Arial"/>
                <a:ea typeface="Arial"/>
                <a:cs typeface="Arial"/>
              </a:rPr>
              <a:t>Aluminum cans</a:t>
            </a:r>
          </a:p>
        </p:txBody>
      </p:sp>
      <p:sp>
        <p:nvSpPr>
          <p:cNvPr id="6" name="group-divider-1">
            <a:extLst xmlns:a="http://schemas.openxmlformats.org/drawingml/2006/main">
              <a:ext uri="{FF2B5EF4-FFF2-40B4-BE49-F238E27FC236}">
                <a16:creationId xmlns:a16="http://schemas.microsoft.com/office/drawing/2014/main" id="{991B01B7-1A28-4CAD-ABD0-E894996ACAEB}"/>
              </a:ext>
            </a:extLst>
          </p:cNvPr>
          <p:cNvSpPr>
            <a:spLocks xmlns:a="http://schemas.openxmlformats.org/drawingml/2006/main" noGrp="1"/>
          </p:cNvSpPr>
          <p:nvPr/>
        </p:nvSpPr>
        <p:spPr>
          <a:xfrm xmlns:a="http://schemas.openxmlformats.org/drawingml/2006/main">
            <a:off x="3162300" y="2095500"/>
            <a:ext cx="9525" cy="1619250"/>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7" name="group-title-2">
            <a:extLst xmlns:a="http://schemas.openxmlformats.org/drawingml/2006/main">
              <a:ext uri="{FF2B5EF4-FFF2-40B4-BE49-F238E27FC236}">
                <a16:creationId xmlns:a16="http://schemas.microsoft.com/office/drawing/2014/main" id="{83B87A64-7FC1-4D55-9A7F-2B2F7A91DDA8}"/>
              </a:ext>
            </a:extLst>
          </p:cNvPr>
          <p:cNvSpPr>
            <a:spLocks xmlns:a="http://schemas.openxmlformats.org/drawingml/2006/main" noGrp="1"/>
          </p:cNvSpPr>
          <p:nvPr/>
        </p:nvSpPr>
        <p:spPr>
          <a:xfrm xmlns:a="http://schemas.openxmlformats.org/drawingml/2006/main">
            <a:off x="3390900" y="219075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C8DA8"/>
                </a:solidFill>
                <a:latin typeface="Arial"/>
                <a:ea typeface="Arial"/>
                <a:cs typeface="Arial"/>
              </a:defRPr>
            </a:defPPr>
          </a:lstStyle>
          <a:p xmlns:a="http://schemas.openxmlformats.org/drawingml/2006/main">
            <a:pPr algn="l">
              <a:lnSpc>
                <a:spcPct val="105000"/>
              </a:lnSpc>
              <a:buNone/>
              <a:defRPr sz="2025" b="1">
                <a:solidFill>
                  <a:srgbClr val="4C8DA8"/>
                </a:solidFill>
                <a:latin typeface="Arial"/>
                <a:ea typeface="Arial"/>
                <a:cs typeface="Arial"/>
              </a:defRPr>
            </a:pPr>
            <a:r>
              <a:rPr sz="2025" b="1">
                <a:solidFill>
                  <a:srgbClr val="4C8DA8"/>
                </a:solidFill>
                <a:latin typeface="Arial"/>
                <a:ea typeface="Arial"/>
                <a:cs typeface="Arial"/>
              </a:rPr>
              <a:t>Reusable</a:t>
            </a:r>
          </a:p>
        </p:txBody>
      </p:sp>
      <p:sp>
        <p:nvSpPr>
          <p:cNvPr id="8" name="group-examples-2">
            <a:extLst xmlns:a="http://schemas.openxmlformats.org/drawingml/2006/main">
              <a:ext uri="{FF2B5EF4-FFF2-40B4-BE49-F238E27FC236}">
                <a16:creationId xmlns:a16="http://schemas.microsoft.com/office/drawing/2014/main" id="{1DD709E9-033E-40A4-96AE-7B83D645A6D9}"/>
              </a:ext>
            </a:extLst>
          </p:cNvPr>
          <p:cNvSpPr>
            <a:spLocks xmlns:a="http://schemas.openxmlformats.org/drawingml/2006/main" noGrp="1"/>
          </p:cNvSpPr>
          <p:nvPr/>
        </p:nvSpPr>
        <p:spPr>
          <a:xfrm xmlns:a="http://schemas.openxmlformats.org/drawingml/2006/main">
            <a:off x="3390900" y="2781300"/>
            <a:ext cx="228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72A2C"/>
                </a:solidFill>
                <a:latin typeface="Arial"/>
                <a:ea typeface="Arial"/>
                <a:cs typeface="Arial"/>
              </a:defRPr>
            </a:defPPr>
          </a:lstStyle>
          <a:p xmlns:a="http://schemas.openxmlformats.org/drawingml/2006/main">
            <a:pPr algn="l">
              <a:lnSpc>
                <a:spcPct val="118000"/>
              </a:lnSpc>
              <a:buNone/>
              <a:defRPr sz="1725" b="0">
                <a:solidFill>
                  <a:srgbClr val="172A2C"/>
                </a:solidFill>
                <a:latin typeface="Arial"/>
                <a:ea typeface="Arial"/>
                <a:cs typeface="Arial"/>
              </a:defRPr>
            </a:pPr>
            <a:r>
              <a:rPr sz="1725" b="0">
                <a:solidFill>
                  <a:srgbClr val="172A2C"/>
                </a:solidFill>
                <a:latin typeface="Arial"/>
                <a:ea typeface="Arial"/>
                <a:cs typeface="Arial"/>
              </a:rPr>
              <a:t>Tote bags</a:t>
            </a:r>
          </a:p>
          <a:p xmlns:a="http://schemas.openxmlformats.org/drawingml/2006/main">
            <a:pPr algn="l">
              <a:lnSpc>
                <a:spcPct val="118000"/>
              </a:lnSpc>
              <a:buNone/>
              <a:defRPr sz="1725" b="0">
                <a:solidFill>
                  <a:srgbClr val="172A2C"/>
                </a:solidFill>
                <a:latin typeface="Arial"/>
                <a:ea typeface="Arial"/>
                <a:cs typeface="Arial"/>
              </a:defRPr>
            </a:pPr>
            <a:r>
              <a:rPr sz="1725" b="0">
                <a:solidFill>
                  <a:srgbClr val="172A2C"/>
                </a:solidFill>
                <a:latin typeface="Arial"/>
                <a:ea typeface="Arial"/>
                <a:cs typeface="Arial"/>
              </a:rPr>
              <a:t>Glass containers</a:t>
            </a:r>
          </a:p>
        </p:txBody>
      </p:sp>
      <p:sp>
        <p:nvSpPr>
          <p:cNvPr id="9" name="group-divider-2">
            <a:extLst xmlns:a="http://schemas.openxmlformats.org/drawingml/2006/main">
              <a:ext uri="{FF2B5EF4-FFF2-40B4-BE49-F238E27FC236}">
                <a16:creationId xmlns:a16="http://schemas.microsoft.com/office/drawing/2014/main" id="{CAE9B405-C1A6-4501-98CA-F79AD3A0849E}"/>
              </a:ext>
            </a:extLst>
          </p:cNvPr>
          <p:cNvSpPr>
            <a:spLocks xmlns:a="http://schemas.openxmlformats.org/drawingml/2006/main" noGrp="1"/>
          </p:cNvSpPr>
          <p:nvPr/>
        </p:nvSpPr>
        <p:spPr>
          <a:xfrm xmlns:a="http://schemas.openxmlformats.org/drawingml/2006/main">
            <a:off x="5867400" y="2095500"/>
            <a:ext cx="9525" cy="1619250"/>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0" name="group-title-3">
            <a:extLst xmlns:a="http://schemas.openxmlformats.org/drawingml/2006/main">
              <a:ext uri="{FF2B5EF4-FFF2-40B4-BE49-F238E27FC236}">
                <a16:creationId xmlns:a16="http://schemas.microsoft.com/office/drawing/2014/main" id="{2CB75167-F127-4BB5-ABCE-23F6FE2BD007}"/>
              </a:ext>
            </a:extLst>
          </p:cNvPr>
          <p:cNvSpPr>
            <a:spLocks xmlns:a="http://schemas.openxmlformats.org/drawingml/2006/main" noGrp="1"/>
          </p:cNvSpPr>
          <p:nvPr/>
        </p:nvSpPr>
        <p:spPr>
          <a:xfrm xmlns:a="http://schemas.openxmlformats.org/drawingml/2006/main">
            <a:off x="6096000" y="219075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3A942"/>
                </a:solidFill>
                <a:latin typeface="Arial"/>
                <a:ea typeface="Arial"/>
                <a:cs typeface="Arial"/>
              </a:defRPr>
            </a:defPPr>
          </a:lstStyle>
          <a:p xmlns:a="http://schemas.openxmlformats.org/drawingml/2006/main">
            <a:pPr algn="l">
              <a:lnSpc>
                <a:spcPct val="105000"/>
              </a:lnSpc>
              <a:buNone/>
              <a:defRPr sz="2025" b="1">
                <a:solidFill>
                  <a:srgbClr val="73A942"/>
                </a:solidFill>
                <a:latin typeface="Arial"/>
                <a:ea typeface="Arial"/>
                <a:cs typeface="Arial"/>
              </a:defRPr>
            </a:pPr>
            <a:r>
              <a:rPr sz="2025" b="1">
                <a:solidFill>
                  <a:srgbClr val="73A942"/>
                </a:solidFill>
                <a:latin typeface="Arial"/>
                <a:ea typeface="Arial"/>
                <a:cs typeface="Arial"/>
              </a:rPr>
              <a:t>Biodegradable</a:t>
            </a:r>
          </a:p>
        </p:txBody>
      </p:sp>
      <p:sp>
        <p:nvSpPr>
          <p:cNvPr id="11" name="group-examples-3">
            <a:extLst xmlns:a="http://schemas.openxmlformats.org/drawingml/2006/main">
              <a:ext uri="{FF2B5EF4-FFF2-40B4-BE49-F238E27FC236}">
                <a16:creationId xmlns:a16="http://schemas.microsoft.com/office/drawing/2014/main" id="{723ACD81-5ADB-4F05-9B3F-8933DBFD9B04}"/>
              </a:ext>
            </a:extLst>
          </p:cNvPr>
          <p:cNvSpPr>
            <a:spLocks xmlns:a="http://schemas.openxmlformats.org/drawingml/2006/main" noGrp="1"/>
          </p:cNvSpPr>
          <p:nvPr/>
        </p:nvSpPr>
        <p:spPr>
          <a:xfrm xmlns:a="http://schemas.openxmlformats.org/drawingml/2006/main">
            <a:off x="6096000" y="2781300"/>
            <a:ext cx="228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72A2C"/>
                </a:solidFill>
                <a:latin typeface="Arial"/>
                <a:ea typeface="Arial"/>
                <a:cs typeface="Arial"/>
              </a:defRPr>
            </a:defPPr>
          </a:lstStyle>
          <a:p xmlns:a="http://schemas.openxmlformats.org/drawingml/2006/main">
            <a:pPr algn="l">
              <a:lnSpc>
                <a:spcPct val="118000"/>
              </a:lnSpc>
              <a:buNone/>
              <a:defRPr sz="1725" b="0">
                <a:solidFill>
                  <a:srgbClr val="172A2C"/>
                </a:solidFill>
                <a:latin typeface="Arial"/>
                <a:ea typeface="Arial"/>
                <a:cs typeface="Arial"/>
              </a:defRPr>
            </a:pPr>
            <a:r>
              <a:rPr sz="1725" b="0">
                <a:solidFill>
                  <a:srgbClr val="172A2C"/>
                </a:solidFill>
                <a:latin typeface="Arial"/>
                <a:ea typeface="Arial"/>
                <a:cs typeface="Arial"/>
              </a:rPr>
              <a:t>Fruit peels</a:t>
            </a:r>
          </a:p>
          <a:p xmlns:a="http://schemas.openxmlformats.org/drawingml/2006/main">
            <a:pPr algn="l">
              <a:lnSpc>
                <a:spcPct val="118000"/>
              </a:lnSpc>
              <a:buNone/>
              <a:defRPr sz="1725" b="0">
                <a:solidFill>
                  <a:srgbClr val="172A2C"/>
                </a:solidFill>
                <a:latin typeface="Arial"/>
                <a:ea typeface="Arial"/>
                <a:cs typeface="Arial"/>
              </a:defRPr>
            </a:pPr>
            <a:r>
              <a:rPr sz="1725" b="0">
                <a:solidFill>
                  <a:srgbClr val="172A2C"/>
                </a:solidFill>
                <a:latin typeface="Arial"/>
                <a:ea typeface="Arial"/>
                <a:cs typeface="Arial"/>
              </a:rPr>
              <a:t>Food scraps</a:t>
            </a:r>
          </a:p>
        </p:txBody>
      </p:sp>
      <p:sp>
        <p:nvSpPr>
          <p:cNvPr id="12" name="group-divider-3">
            <a:extLst xmlns:a="http://schemas.openxmlformats.org/drawingml/2006/main">
              <a:ext uri="{FF2B5EF4-FFF2-40B4-BE49-F238E27FC236}">
                <a16:creationId xmlns:a16="http://schemas.microsoft.com/office/drawing/2014/main" id="{685BCC92-07EC-496B-930B-B5956E9769C9}"/>
              </a:ext>
            </a:extLst>
          </p:cNvPr>
          <p:cNvSpPr>
            <a:spLocks xmlns:a="http://schemas.openxmlformats.org/drawingml/2006/main" noGrp="1"/>
          </p:cNvSpPr>
          <p:nvPr/>
        </p:nvSpPr>
        <p:spPr>
          <a:xfrm xmlns:a="http://schemas.openxmlformats.org/drawingml/2006/main">
            <a:off x="8572500" y="2095500"/>
            <a:ext cx="9525" cy="1619250"/>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3" name="group-title-4">
            <a:extLst xmlns:a="http://schemas.openxmlformats.org/drawingml/2006/main">
              <a:ext uri="{FF2B5EF4-FFF2-40B4-BE49-F238E27FC236}">
                <a16:creationId xmlns:a16="http://schemas.microsoft.com/office/drawing/2014/main" id="{9CFC77CA-8633-4D9B-8259-9FEDDA8A5D7B}"/>
              </a:ext>
            </a:extLst>
          </p:cNvPr>
          <p:cNvSpPr>
            <a:spLocks xmlns:a="http://schemas.openxmlformats.org/drawingml/2006/main" noGrp="1"/>
          </p:cNvSpPr>
          <p:nvPr/>
        </p:nvSpPr>
        <p:spPr>
          <a:xfrm xmlns:a="http://schemas.openxmlformats.org/drawingml/2006/main">
            <a:off x="8801100" y="219075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65A4D"/>
                </a:solidFill>
                <a:latin typeface="Arial"/>
                <a:ea typeface="Arial"/>
                <a:cs typeface="Arial"/>
              </a:defRPr>
            </a:defPPr>
          </a:lstStyle>
          <a:p xmlns:a="http://schemas.openxmlformats.org/drawingml/2006/main">
            <a:pPr algn="l">
              <a:lnSpc>
                <a:spcPct val="105000"/>
              </a:lnSpc>
              <a:buNone/>
              <a:defRPr sz="2025" b="1">
                <a:solidFill>
                  <a:srgbClr val="B65A4D"/>
                </a:solidFill>
                <a:latin typeface="Arial"/>
                <a:ea typeface="Arial"/>
                <a:cs typeface="Arial"/>
              </a:defRPr>
            </a:pPr>
            <a:r>
              <a:rPr sz="2025" b="1">
                <a:solidFill>
                  <a:srgbClr val="B65A4D"/>
                </a:solidFill>
                <a:latin typeface="Arial"/>
                <a:ea typeface="Arial"/>
                <a:cs typeface="Arial"/>
              </a:rPr>
              <a:t>Hazardous</a:t>
            </a:r>
          </a:p>
        </p:txBody>
      </p:sp>
      <p:sp>
        <p:nvSpPr>
          <p:cNvPr id="14" name="group-examples-4">
            <a:extLst xmlns:a="http://schemas.openxmlformats.org/drawingml/2006/main">
              <a:ext uri="{FF2B5EF4-FFF2-40B4-BE49-F238E27FC236}">
                <a16:creationId xmlns:a16="http://schemas.microsoft.com/office/drawing/2014/main" id="{11A1F575-55F3-4C0F-860C-C76C3BFB064F}"/>
              </a:ext>
            </a:extLst>
          </p:cNvPr>
          <p:cNvSpPr>
            <a:spLocks xmlns:a="http://schemas.openxmlformats.org/drawingml/2006/main" noGrp="1"/>
          </p:cNvSpPr>
          <p:nvPr/>
        </p:nvSpPr>
        <p:spPr>
          <a:xfrm xmlns:a="http://schemas.openxmlformats.org/drawingml/2006/main">
            <a:off x="8801100" y="2781300"/>
            <a:ext cx="228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72A2C"/>
                </a:solidFill>
                <a:latin typeface="Arial"/>
                <a:ea typeface="Arial"/>
                <a:cs typeface="Arial"/>
              </a:defRPr>
            </a:defPPr>
          </a:lstStyle>
          <a:p xmlns:a="http://schemas.openxmlformats.org/drawingml/2006/main">
            <a:pPr algn="l">
              <a:lnSpc>
                <a:spcPct val="118000"/>
              </a:lnSpc>
              <a:buNone/>
              <a:defRPr sz="1725" b="0">
                <a:solidFill>
                  <a:srgbClr val="172A2C"/>
                </a:solidFill>
                <a:latin typeface="Arial"/>
                <a:ea typeface="Arial"/>
                <a:cs typeface="Arial"/>
              </a:defRPr>
            </a:pPr>
            <a:r>
              <a:rPr sz="1725" b="0">
                <a:solidFill>
                  <a:srgbClr val="172A2C"/>
                </a:solidFill>
                <a:latin typeface="Arial"/>
                <a:ea typeface="Arial"/>
                <a:cs typeface="Arial"/>
              </a:rPr>
              <a:t>Batteries</a:t>
            </a:r>
          </a:p>
          <a:p xmlns:a="http://schemas.openxmlformats.org/drawingml/2006/main">
            <a:pPr algn="l">
              <a:lnSpc>
                <a:spcPct val="118000"/>
              </a:lnSpc>
              <a:buNone/>
              <a:defRPr sz="1725" b="0">
                <a:solidFill>
                  <a:srgbClr val="172A2C"/>
                </a:solidFill>
                <a:latin typeface="Arial"/>
                <a:ea typeface="Arial"/>
                <a:cs typeface="Arial"/>
              </a:defRPr>
            </a:pPr>
            <a:r>
              <a:rPr sz="1725" b="0">
                <a:solidFill>
                  <a:srgbClr val="172A2C"/>
                </a:solidFill>
                <a:latin typeface="Arial"/>
                <a:ea typeface="Arial"/>
                <a:cs typeface="Arial"/>
              </a:rPr>
              <a:t>E-waste</a:t>
            </a:r>
          </a:p>
        </p:txBody>
      </p:sp>
      <p:sp>
        <p:nvSpPr>
          <p:cNvPr id="15" name="feature-divider">
            <a:extLst xmlns:a="http://schemas.openxmlformats.org/drawingml/2006/main">
              <a:ext uri="{FF2B5EF4-FFF2-40B4-BE49-F238E27FC236}">
                <a16:creationId xmlns:a16="http://schemas.microsoft.com/office/drawing/2014/main" id="{DB6B7D8F-8998-45D4-A8FC-FB3DCDFD0477}"/>
              </a:ext>
            </a:extLst>
          </p:cNvPr>
          <p:cNvSpPr>
            <a:spLocks xmlns:a="http://schemas.openxmlformats.org/drawingml/2006/main" noGrp="1"/>
          </p:cNvSpPr>
          <p:nvPr/>
        </p:nvSpPr>
        <p:spPr>
          <a:xfrm xmlns:a="http://schemas.openxmlformats.org/drawingml/2006/main">
            <a:off x="685800" y="3981450"/>
            <a:ext cx="10820400" cy="19050"/>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6" name="feature-input-label">
            <a:extLst xmlns:a="http://schemas.openxmlformats.org/drawingml/2006/main">
              <a:ext uri="{FF2B5EF4-FFF2-40B4-BE49-F238E27FC236}">
                <a16:creationId xmlns:a16="http://schemas.microsoft.com/office/drawing/2014/main" id="{281E7D77-DFE3-49F7-857A-C488C9317956}"/>
              </a:ext>
            </a:extLst>
          </p:cNvPr>
          <p:cNvSpPr>
            <a:spLocks xmlns:a="http://schemas.openxmlformats.org/drawingml/2006/main" noGrp="1"/>
          </p:cNvSpPr>
          <p:nvPr/>
        </p:nvSpPr>
        <p:spPr>
          <a:xfrm xmlns:a="http://schemas.openxmlformats.org/drawingml/2006/main">
            <a:off x="685800" y="4324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6B6B"/>
                </a:solidFill>
                <a:latin typeface="Arial"/>
                <a:ea typeface="Arial"/>
                <a:cs typeface="Arial"/>
              </a:defRPr>
            </a:defPPr>
          </a:lstStyle>
          <a:p xmlns:a="http://schemas.openxmlformats.org/drawingml/2006/main">
            <a:pPr algn="l">
              <a:lnSpc>
                <a:spcPct val="105000"/>
              </a:lnSpc>
              <a:buNone/>
              <a:defRPr sz="1275" b="1">
                <a:solidFill>
                  <a:srgbClr val="536B6B"/>
                </a:solidFill>
                <a:latin typeface="Arial"/>
                <a:ea typeface="Arial"/>
                <a:cs typeface="Arial"/>
              </a:defRPr>
            </a:pPr>
            <a:r>
              <a:rPr sz="1275" b="1">
                <a:solidFill>
                  <a:srgbClr val="536B6B"/>
                </a:solidFill>
                <a:latin typeface="Arial"/>
                <a:ea typeface="Arial"/>
                <a:cs typeface="Arial"/>
              </a:rPr>
              <a:t>INPUT OPTIONS</a:t>
            </a:r>
          </a:p>
        </p:txBody>
      </p:sp>
      <p:sp>
        <p:nvSpPr>
          <p:cNvPr id="17" name="feature-inputs">
            <a:extLst xmlns:a="http://schemas.openxmlformats.org/drawingml/2006/main">
              <a:ext uri="{FF2B5EF4-FFF2-40B4-BE49-F238E27FC236}">
                <a16:creationId xmlns:a16="http://schemas.microsoft.com/office/drawing/2014/main" id="{D7043530-8907-43ED-9D49-2B8458649AF7}"/>
              </a:ext>
            </a:extLst>
          </p:cNvPr>
          <p:cNvSpPr>
            <a:spLocks xmlns:a="http://schemas.openxmlformats.org/drawingml/2006/main" noGrp="1"/>
          </p:cNvSpPr>
          <p:nvPr/>
        </p:nvSpPr>
        <p:spPr>
          <a:xfrm xmlns:a="http://schemas.openxmlformats.org/drawingml/2006/main">
            <a:off x="685800" y="4629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72A2C"/>
                </a:solidFill>
                <a:latin typeface="Arial"/>
                <a:ea typeface="Arial"/>
                <a:cs typeface="Arial"/>
              </a:defRPr>
            </a:defPPr>
          </a:lstStyle>
          <a:p xmlns:a="http://schemas.openxmlformats.org/drawingml/2006/main">
            <a:pPr algn="l">
              <a:lnSpc>
                <a:spcPct val="105000"/>
              </a:lnSpc>
              <a:buNone/>
              <a:defRPr sz="1725" b="1">
                <a:solidFill>
                  <a:srgbClr val="172A2C"/>
                </a:solidFill>
                <a:latin typeface="Arial"/>
                <a:ea typeface="Arial"/>
                <a:cs typeface="Arial"/>
              </a:defRPr>
            </a:pPr>
            <a:r>
              <a:rPr sz="1725" b="1">
                <a:solidFill>
                  <a:srgbClr val="172A2C"/>
                </a:solidFill>
                <a:latin typeface="Arial"/>
                <a:ea typeface="Arial"/>
                <a:cs typeface="Arial"/>
              </a:rPr>
              <a:t>Webcam  /  image upload  /  sample library</a:t>
            </a:r>
          </a:p>
        </p:txBody>
      </p:sp>
      <p:sp>
        <p:nvSpPr>
          <p:cNvPr id="18" name="feature-output-label">
            <a:extLst xmlns:a="http://schemas.openxmlformats.org/drawingml/2006/main">
              <a:ext uri="{FF2B5EF4-FFF2-40B4-BE49-F238E27FC236}">
                <a16:creationId xmlns:a16="http://schemas.microsoft.com/office/drawing/2014/main" id="{3392D350-0FE5-4A43-AD42-46FF42B1DB27}"/>
              </a:ext>
            </a:extLst>
          </p:cNvPr>
          <p:cNvSpPr>
            <a:spLocks xmlns:a="http://schemas.openxmlformats.org/drawingml/2006/main" noGrp="1"/>
          </p:cNvSpPr>
          <p:nvPr/>
        </p:nvSpPr>
        <p:spPr>
          <a:xfrm xmlns:a="http://schemas.openxmlformats.org/drawingml/2006/main">
            <a:off x="6191250" y="43243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6B6B"/>
                </a:solidFill>
                <a:latin typeface="Arial"/>
                <a:ea typeface="Arial"/>
                <a:cs typeface="Arial"/>
              </a:defRPr>
            </a:defPPr>
          </a:lstStyle>
          <a:p xmlns:a="http://schemas.openxmlformats.org/drawingml/2006/main">
            <a:pPr algn="l">
              <a:lnSpc>
                <a:spcPct val="105000"/>
              </a:lnSpc>
              <a:buNone/>
              <a:defRPr sz="1275" b="1">
                <a:solidFill>
                  <a:srgbClr val="536B6B"/>
                </a:solidFill>
                <a:latin typeface="Arial"/>
                <a:ea typeface="Arial"/>
                <a:cs typeface="Arial"/>
              </a:defRPr>
            </a:pPr>
            <a:r>
              <a:rPr sz="1275" b="1">
                <a:solidFill>
                  <a:srgbClr val="536B6B"/>
                </a:solidFill>
                <a:latin typeface="Arial"/>
                <a:ea typeface="Arial"/>
                <a:cs typeface="Arial"/>
              </a:rPr>
              <a:t>WHAT THE USER GETS</a:t>
            </a:r>
          </a:p>
        </p:txBody>
      </p:sp>
      <p:sp>
        <p:nvSpPr>
          <p:cNvPr id="19" name="feature-outputs">
            <a:extLst xmlns:a="http://schemas.openxmlformats.org/drawingml/2006/main">
              <a:ext uri="{FF2B5EF4-FFF2-40B4-BE49-F238E27FC236}">
                <a16:creationId xmlns:a16="http://schemas.microsoft.com/office/drawing/2014/main" id="{F401A595-E160-4EF2-B8B0-4CD6D4DF0C99}"/>
              </a:ext>
            </a:extLst>
          </p:cNvPr>
          <p:cNvSpPr>
            <a:spLocks xmlns:a="http://schemas.openxmlformats.org/drawingml/2006/main" noGrp="1"/>
          </p:cNvSpPr>
          <p:nvPr/>
        </p:nvSpPr>
        <p:spPr>
          <a:xfrm xmlns:a="http://schemas.openxmlformats.org/drawingml/2006/main">
            <a:off x="6191250" y="4629150"/>
            <a:ext cx="5000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72A2C"/>
                </a:solidFill>
                <a:latin typeface="Arial"/>
                <a:ea typeface="Arial"/>
                <a:cs typeface="Arial"/>
              </a:defRPr>
            </a:defPPr>
          </a:lstStyle>
          <a:p xmlns:a="http://schemas.openxmlformats.org/drawingml/2006/main">
            <a:pPr algn="l">
              <a:lnSpc>
                <a:spcPct val="108000"/>
              </a:lnSpc>
              <a:buNone/>
              <a:defRPr sz="1725" b="1">
                <a:solidFill>
                  <a:srgbClr val="172A2C"/>
                </a:solidFill>
                <a:latin typeface="Arial"/>
                <a:ea typeface="Arial"/>
                <a:cs typeface="Arial"/>
              </a:defRPr>
            </a:pPr>
            <a:r>
              <a:rPr sz="1725" b="1">
                <a:solidFill>
                  <a:srgbClr val="172A2C"/>
                </a:solidFill>
                <a:latin typeface="Arial"/>
                <a:ea typeface="Arial"/>
                <a:cs typeface="Arial"/>
              </a:rPr>
              <a:t>Category + confidence, guidance, event log and export</a:t>
            </a:r>
          </a:p>
        </p:txBody>
      </p:sp>
      <p:sp>
        <p:nvSpPr>
          <p:cNvPr id="20" name="feature-footnote">
            <a:extLst xmlns:a="http://schemas.openxmlformats.org/drawingml/2006/main">
              <a:ext uri="{FF2B5EF4-FFF2-40B4-BE49-F238E27FC236}">
                <a16:creationId xmlns:a16="http://schemas.microsoft.com/office/drawing/2014/main" id="{034DFB35-2E0A-438C-BAAD-621AC5940A5B}"/>
              </a:ext>
            </a:extLst>
          </p:cNvPr>
          <p:cNvSpPr>
            <a:spLocks xmlns:a="http://schemas.openxmlformats.org/drawingml/2006/main" noGrp="1"/>
          </p:cNvSpPr>
          <p:nvPr/>
        </p:nvSpPr>
        <p:spPr>
          <a:xfrm xmlns:a="http://schemas.openxmlformats.org/drawingml/2006/main">
            <a:off x="685800" y="561975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36B6B"/>
                </a:solidFill>
                <a:latin typeface="Arial"/>
                <a:ea typeface="Arial"/>
                <a:cs typeface="Arial"/>
              </a:defRPr>
            </a:defPPr>
          </a:lstStyle>
          <a:p xmlns:a="http://schemas.openxmlformats.org/drawingml/2006/main">
            <a:pPr algn="l">
              <a:lnSpc>
                <a:spcPct val="105000"/>
              </a:lnSpc>
              <a:buNone/>
              <a:defRPr sz="1275" b="0">
                <a:solidFill>
                  <a:srgbClr val="536B6B"/>
                </a:solidFill>
                <a:latin typeface="Arial"/>
                <a:ea typeface="Arial"/>
                <a:cs typeface="Arial"/>
              </a:defRPr>
            </a:pPr>
            <a:r>
              <a:rPr sz="1275" b="0">
                <a:solidFill>
                  <a:srgbClr val="536B6B"/>
                </a:solidFill>
                <a:latin typeface="Arial"/>
                <a:ea typeface="Arial"/>
                <a:cs typeface="Arial"/>
              </a:rPr>
              <a:t>The repository README describes these inputs and features.</a:t>
            </a:r>
          </a:p>
        </p:txBody>
      </p:sp>
    </p:spTree>
    <p:extLst>
      <p:ext uri="{BB962C8B-B14F-4D97-AF65-F5344CB8AC3E}">
        <p14:creationId xmlns:p14="http://schemas.microsoft.com/office/powerpoint/2010/main" val="93263221"/>
      </p:ext>
    </p:extLst>
  </p:cSld>
</p:sld>
</file>

<file path=ppt/slides/slide4.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23" name="slide-4-title">
            <a:extLst xmlns:a="http://schemas.openxmlformats.org/drawingml/2006/main">
              <a:ext uri="{FF2B5EF4-FFF2-40B4-BE49-F238E27FC236}">
                <a16:creationId xmlns:a16="http://schemas.microsoft.com/office/drawing/2014/main" id="{C6DB0F0E-5EF3-4B00-AA87-B0CECF4B6E4C}"/>
              </a:ext>
            </a:extLst>
          </p:cNvPr>
          <p:cNvSpPr>
            <a:spLocks xmlns:a="http://schemas.openxmlformats.org/drawingml/2006/main" noGrp="1"/>
          </p:cNvSpPr>
          <p:nvPr/>
        </p:nvSpPr>
        <p:spPr>
          <a:xfrm xmlns:a="http://schemas.openxmlformats.org/drawingml/2006/main">
            <a:off x="685800" y="5524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A2C"/>
                </a:solidFill>
                <a:latin typeface="Arial"/>
                <a:ea typeface="Arial"/>
                <a:cs typeface="Arial"/>
              </a:defRPr>
            </a:defPPr>
          </a:lstStyle>
          <a:p xmlns:a="http://schemas.openxmlformats.org/drawingml/2006/main">
            <a:pPr algn="l">
              <a:lnSpc>
                <a:spcPct val="95000"/>
              </a:lnSpc>
              <a:buNone/>
              <a:defRPr sz="3300" b="1">
                <a:solidFill>
                  <a:srgbClr val="172A2C"/>
                </a:solidFill>
                <a:latin typeface="Arial"/>
                <a:ea typeface="Arial"/>
                <a:cs typeface="Arial"/>
              </a:defRPr>
            </a:pPr>
            <a:r>
              <a:rPr sz="3300" b="1">
                <a:solidFill>
                  <a:srgbClr val="172A2C"/>
                </a:solidFill>
                <a:latin typeface="Arial"/>
                <a:ea typeface="Arial"/>
                <a:cs typeface="Arial"/>
              </a:rPr>
              <a:t>HOW ONE ITEM MOVES THROUGH THE SYSTEM</a:t>
            </a:r>
          </a:p>
        </p:txBody>
      </p:sp>
      <p:sp>
        <p:nvSpPr>
          <p:cNvPr id="2" name="slide-4-number">
            <a:extLst xmlns:a="http://schemas.openxmlformats.org/drawingml/2006/main">
              <a:ext uri="{FF2B5EF4-FFF2-40B4-BE49-F238E27FC236}">
                <a16:creationId xmlns:a16="http://schemas.microsoft.com/office/drawing/2014/main" id="{27BD251B-1A6C-4DE3-8B2D-49CDD94969DF}"/>
              </a:ext>
            </a:extLst>
          </p:cNvPr>
          <p:cNvSpPr>
            <a:spLocks xmlns:a="http://schemas.openxmlformats.org/drawingml/2006/main" noGrp="1"/>
          </p:cNvSpPr>
          <p:nvPr/>
        </p:nvSpPr>
        <p:spPr>
          <a:xfrm xmlns:a="http://schemas.openxmlformats.org/drawingml/2006/main">
            <a:off x="11144250" y="63627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1">
                <a:solidFill>
                  <a:srgbClr val="536B6B"/>
                </a:solidFill>
                <a:latin typeface="Arial"/>
                <a:ea typeface="Arial"/>
                <a:cs typeface="Arial"/>
              </a:defRPr>
            </a:defPPr>
          </a:lstStyle>
          <a:p xmlns:a="http://schemas.openxmlformats.org/drawingml/2006/main">
            <a:pPr algn="r">
              <a:lnSpc>
                <a:spcPct val="105000"/>
              </a:lnSpc>
              <a:buNone/>
              <a:defRPr sz="1200" b="1">
                <a:solidFill>
                  <a:srgbClr val="536B6B"/>
                </a:solidFill>
                <a:latin typeface="Arial"/>
                <a:ea typeface="Arial"/>
                <a:cs typeface="Arial"/>
              </a:defRPr>
            </a:pPr>
            <a:r>
              <a:rPr sz="1200" b="1">
                <a:solidFill>
                  <a:srgbClr val="536B6B"/>
                </a:solidFill>
                <a:latin typeface="Arial"/>
                <a:ea typeface="Arial"/>
                <a:cs typeface="Arial"/>
              </a:rPr>
              <a:t>04</a:t>
            </a:r>
          </a:p>
        </p:txBody>
      </p:sp>
      <p:sp>
        <p:nvSpPr>
          <p:cNvPr id="3" name="flow-intro">
            <a:extLst xmlns:a="http://schemas.openxmlformats.org/drawingml/2006/main">
              <a:ext uri="{FF2B5EF4-FFF2-40B4-BE49-F238E27FC236}">
                <a16:creationId xmlns:a16="http://schemas.microsoft.com/office/drawing/2014/main" id="{61FF416C-945F-41D2-993D-E9D7BF40571B}"/>
              </a:ext>
            </a:extLst>
          </p:cNvPr>
          <p:cNvSpPr>
            <a:spLocks xmlns:a="http://schemas.openxmlformats.org/drawingml/2006/main" noGrp="1"/>
          </p:cNvSpPr>
          <p:nvPr/>
        </p:nvSpPr>
        <p:spPr>
          <a:xfrm xmlns:a="http://schemas.openxmlformats.org/drawingml/2006/main">
            <a:off x="685800" y="1371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6B6B"/>
                </a:solidFill>
                <a:latin typeface="Arial"/>
                <a:ea typeface="Arial"/>
                <a:cs typeface="Arial"/>
              </a:defRPr>
            </a:defPPr>
          </a:lstStyle>
          <a:p xmlns:a="http://schemas.openxmlformats.org/drawingml/2006/main">
            <a:pPr algn="l">
              <a:lnSpc>
                <a:spcPct val="105000"/>
              </a:lnSpc>
              <a:buNone/>
              <a:defRPr sz="1800" b="0">
                <a:solidFill>
                  <a:srgbClr val="536B6B"/>
                </a:solidFill>
                <a:latin typeface="Arial"/>
                <a:ea typeface="Arial"/>
                <a:cs typeface="Arial"/>
              </a:defRPr>
            </a:pPr>
            <a:r>
              <a:rPr sz="1800" b="0">
                <a:solidFill>
                  <a:srgbClr val="536B6B"/>
                </a:solidFill>
                <a:latin typeface="Arial"/>
                <a:ea typeface="Arial"/>
                <a:cs typeface="Arial"/>
              </a:rPr>
              <a:t>A single scan connects recognition to advice and a visible route.</a:t>
            </a:r>
          </a:p>
        </p:txBody>
      </p:sp>
      <p:sp>
        <p:nvSpPr>
          <p:cNvPr id="4" name="flow-connector">
            <a:extLst xmlns:a="http://schemas.openxmlformats.org/drawingml/2006/main">
              <a:ext uri="{FF2B5EF4-FFF2-40B4-BE49-F238E27FC236}">
                <a16:creationId xmlns:a16="http://schemas.microsoft.com/office/drawing/2014/main" id="{8667F38B-9AE4-47B6-82A0-3CC64D189B1F}"/>
              </a:ext>
            </a:extLst>
          </p:cNvPr>
          <p:cNvSpPr>
            <a:spLocks xmlns:a="http://schemas.openxmlformats.org/drawingml/2006/main" noGrp="1"/>
          </p:cNvSpPr>
          <p:nvPr/>
        </p:nvSpPr>
        <p:spPr>
          <a:xfrm xmlns:a="http://schemas.openxmlformats.org/drawingml/2006/main">
            <a:off x="1847850" y="2228850"/>
            <a:ext cx="8458200" cy="38100"/>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5" name="flow-step-circle-1">
            <a:extLst xmlns:a="http://schemas.openxmlformats.org/drawingml/2006/main">
              <a:ext uri="{FF2B5EF4-FFF2-40B4-BE49-F238E27FC236}">
                <a16:creationId xmlns:a16="http://schemas.microsoft.com/office/drawing/2014/main" id="{0BB0ADEC-EB85-4006-981C-1EA5A1EFF5E8}"/>
              </a:ext>
            </a:extLst>
          </p:cNvPr>
          <p:cNvSpPr>
            <a:spLocks xmlns:a="http://schemas.openxmlformats.org/drawingml/2006/main" noGrp="1"/>
          </p:cNvSpPr>
          <p:nvPr/>
        </p:nvSpPr>
        <p:spPr>
          <a:xfrm xmlns:a="http://schemas.openxmlformats.org/drawingml/2006/main">
            <a:off x="1571625" y="1952625"/>
            <a:ext cx="552450" cy="552450"/>
          </a:xfrm>
          <a:prstGeom xmlns:a="http://schemas.openxmlformats.org/drawingml/2006/main" prst="ellipse">
            <a:avLst/>
          </a:prstGeom>
          <a:solidFill xmlns:a="http://schemas.openxmlformats.org/drawingml/2006/main">
            <a:srgbClr val="167C78"/>
          </a:solidFill>
          <a:ln xmlns:a="http://schemas.openxmlformats.org/drawingml/2006/main" w="0">
            <a:noFill/>
            <a:prstDash val="solid"/>
          </a:ln>
        </p:spPr>
      </p:sp>
      <p:sp>
        <p:nvSpPr>
          <p:cNvPr id="6" name="flow-step-number-1">
            <a:extLst xmlns:a="http://schemas.openxmlformats.org/drawingml/2006/main">
              <a:ext uri="{FF2B5EF4-FFF2-40B4-BE49-F238E27FC236}">
                <a16:creationId xmlns:a16="http://schemas.microsoft.com/office/drawing/2014/main" id="{2A4DE581-3AED-436D-A3E8-E6E5DEA2D365}"/>
              </a:ext>
            </a:extLst>
          </p:cNvPr>
          <p:cNvSpPr>
            <a:spLocks xmlns:a="http://schemas.openxmlformats.org/drawingml/2006/main" noGrp="1"/>
          </p:cNvSpPr>
          <p:nvPr/>
        </p:nvSpPr>
        <p:spPr>
          <a:xfrm xmlns:a="http://schemas.openxmlformats.org/drawingml/2006/main">
            <a:off x="1638300" y="20764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1</a:t>
            </a:r>
          </a:p>
        </p:txBody>
      </p:sp>
      <p:sp>
        <p:nvSpPr>
          <p:cNvPr id="7" name="flow-step-title-1">
            <a:extLst xmlns:a="http://schemas.openxmlformats.org/drawingml/2006/main">
              <a:ext uri="{FF2B5EF4-FFF2-40B4-BE49-F238E27FC236}">
                <a16:creationId xmlns:a16="http://schemas.microsoft.com/office/drawing/2014/main" id="{5830F1DE-B72A-47BA-BC5E-90FC7A6763D0}"/>
              </a:ext>
            </a:extLst>
          </p:cNvPr>
          <p:cNvSpPr>
            <a:spLocks xmlns:a="http://schemas.openxmlformats.org/drawingml/2006/main" noGrp="1"/>
          </p:cNvSpPr>
          <p:nvPr/>
        </p:nvSpPr>
        <p:spPr>
          <a:xfrm xmlns:a="http://schemas.openxmlformats.org/drawingml/2006/main">
            <a:off x="704850" y="28289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72A2C"/>
                </a:solidFill>
                <a:latin typeface="Arial"/>
                <a:ea typeface="Arial"/>
                <a:cs typeface="Arial"/>
              </a:defRPr>
            </a:defPPr>
          </a:lstStyle>
          <a:p xmlns:a="http://schemas.openxmlformats.org/drawingml/2006/main">
            <a:pPr algn="ctr">
              <a:lnSpc>
                <a:spcPct val="105000"/>
              </a:lnSpc>
              <a:buNone/>
              <a:defRPr sz="1875" b="1">
                <a:solidFill>
                  <a:srgbClr val="172A2C"/>
                </a:solidFill>
                <a:latin typeface="Arial"/>
                <a:ea typeface="Arial"/>
                <a:cs typeface="Arial"/>
              </a:defRPr>
            </a:pPr>
            <a:r>
              <a:rPr sz="1875" b="1">
                <a:solidFill>
                  <a:srgbClr val="172A2C"/>
                </a:solidFill>
                <a:latin typeface="Arial"/>
                <a:ea typeface="Arial"/>
                <a:cs typeface="Arial"/>
              </a:rPr>
              <a:t>Choose an item</a:t>
            </a:r>
          </a:p>
        </p:txBody>
      </p:sp>
      <p:sp>
        <p:nvSpPr>
          <p:cNvPr id="8" name="flow-step-body-1">
            <a:extLst xmlns:a="http://schemas.openxmlformats.org/drawingml/2006/main">
              <a:ext uri="{FF2B5EF4-FFF2-40B4-BE49-F238E27FC236}">
                <a16:creationId xmlns:a16="http://schemas.microsoft.com/office/drawing/2014/main" id="{977817F7-EF57-4FBE-8CF1-9636D216155D}"/>
              </a:ext>
            </a:extLst>
          </p:cNvPr>
          <p:cNvSpPr>
            <a:spLocks xmlns:a="http://schemas.openxmlformats.org/drawingml/2006/main" noGrp="1"/>
          </p:cNvSpPr>
          <p:nvPr/>
        </p:nvSpPr>
        <p:spPr>
          <a:xfrm xmlns:a="http://schemas.openxmlformats.org/drawingml/2006/main">
            <a:off x="704850" y="33147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536B6B"/>
                </a:solidFill>
                <a:latin typeface="Arial"/>
                <a:ea typeface="Arial"/>
                <a:cs typeface="Arial"/>
              </a:defRPr>
            </a:defPPr>
          </a:lstStyle>
          <a:p xmlns:a="http://schemas.openxmlformats.org/drawingml/2006/main">
            <a:pPr algn="ctr">
              <a:lnSpc>
                <a:spcPct val="112000"/>
              </a:lnSpc>
              <a:buNone/>
              <a:defRPr sz="1650" b="0">
                <a:solidFill>
                  <a:srgbClr val="536B6B"/>
                </a:solidFill>
                <a:latin typeface="Arial"/>
                <a:ea typeface="Arial"/>
                <a:cs typeface="Arial"/>
              </a:defRPr>
            </a:pPr>
            <a:r>
              <a:rPr sz="1650" b="0">
                <a:solidFill>
                  <a:srgbClr val="536B6B"/>
                </a:solidFill>
                <a:latin typeface="Arial"/>
                <a:ea typeface="Arial"/>
                <a:cs typeface="Arial"/>
              </a:rPr>
              <a:t>Webcam, uploaded</a:t>
            </a:r>
          </a:p>
          <a:p xmlns:a="http://schemas.openxmlformats.org/drawingml/2006/main">
            <a:pPr algn="ctr">
              <a:lnSpc>
                <a:spcPct val="112000"/>
              </a:lnSpc>
              <a:buNone/>
              <a:defRPr sz="1650" b="0">
                <a:solidFill>
                  <a:srgbClr val="536B6B"/>
                </a:solidFill>
                <a:latin typeface="Arial"/>
                <a:ea typeface="Arial"/>
                <a:cs typeface="Arial"/>
              </a:defRPr>
            </a:pPr>
            <a:r>
              <a:rPr sz="1650" b="0">
                <a:solidFill>
                  <a:srgbClr val="536B6B"/>
                </a:solidFill>
                <a:latin typeface="Arial"/>
                <a:ea typeface="Arial"/>
                <a:cs typeface="Arial"/>
              </a:rPr>
              <a:t>image or specimen</a:t>
            </a:r>
          </a:p>
        </p:txBody>
      </p:sp>
      <p:sp>
        <p:nvSpPr>
          <p:cNvPr id="9" name="flow-step-circle-2">
            <a:extLst xmlns:a="http://schemas.openxmlformats.org/drawingml/2006/main">
              <a:ext uri="{FF2B5EF4-FFF2-40B4-BE49-F238E27FC236}">
                <a16:creationId xmlns:a16="http://schemas.microsoft.com/office/drawing/2014/main" id="{F4AB6A1C-11A4-4C3D-BA2A-6DADE44CD3C2}"/>
              </a:ext>
            </a:extLst>
          </p:cNvPr>
          <p:cNvSpPr>
            <a:spLocks xmlns:a="http://schemas.openxmlformats.org/drawingml/2006/main" noGrp="1"/>
          </p:cNvSpPr>
          <p:nvPr/>
        </p:nvSpPr>
        <p:spPr>
          <a:xfrm xmlns:a="http://schemas.openxmlformats.org/drawingml/2006/main">
            <a:off x="4391025" y="1952625"/>
            <a:ext cx="552450" cy="552450"/>
          </a:xfrm>
          <a:prstGeom xmlns:a="http://schemas.openxmlformats.org/drawingml/2006/main" prst="ellipse">
            <a:avLst/>
          </a:prstGeom>
          <a:solidFill xmlns:a="http://schemas.openxmlformats.org/drawingml/2006/main">
            <a:srgbClr val="4C8DA8"/>
          </a:solidFill>
          <a:ln xmlns:a="http://schemas.openxmlformats.org/drawingml/2006/main" w="0">
            <a:noFill/>
            <a:prstDash val="solid"/>
          </a:ln>
        </p:spPr>
      </p:sp>
      <p:sp>
        <p:nvSpPr>
          <p:cNvPr id="10" name="flow-step-number-2">
            <a:extLst xmlns:a="http://schemas.openxmlformats.org/drawingml/2006/main">
              <a:ext uri="{FF2B5EF4-FFF2-40B4-BE49-F238E27FC236}">
                <a16:creationId xmlns:a16="http://schemas.microsoft.com/office/drawing/2014/main" id="{77D643D1-0DAC-432C-B355-71486571BC20}"/>
              </a:ext>
            </a:extLst>
          </p:cNvPr>
          <p:cNvSpPr>
            <a:spLocks xmlns:a="http://schemas.openxmlformats.org/drawingml/2006/main" noGrp="1"/>
          </p:cNvSpPr>
          <p:nvPr/>
        </p:nvSpPr>
        <p:spPr>
          <a:xfrm xmlns:a="http://schemas.openxmlformats.org/drawingml/2006/main">
            <a:off x="4457700" y="20764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2</a:t>
            </a:r>
          </a:p>
        </p:txBody>
      </p:sp>
      <p:sp>
        <p:nvSpPr>
          <p:cNvPr id="11" name="flow-step-title-2">
            <a:extLst xmlns:a="http://schemas.openxmlformats.org/drawingml/2006/main">
              <a:ext uri="{FF2B5EF4-FFF2-40B4-BE49-F238E27FC236}">
                <a16:creationId xmlns:a16="http://schemas.microsoft.com/office/drawing/2014/main" id="{E98B07FE-DF81-4DC5-A944-304347B1C4D4}"/>
              </a:ext>
            </a:extLst>
          </p:cNvPr>
          <p:cNvSpPr>
            <a:spLocks xmlns:a="http://schemas.openxmlformats.org/drawingml/2006/main" noGrp="1"/>
          </p:cNvSpPr>
          <p:nvPr/>
        </p:nvSpPr>
        <p:spPr>
          <a:xfrm xmlns:a="http://schemas.openxmlformats.org/drawingml/2006/main">
            <a:off x="3524250" y="28289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72A2C"/>
                </a:solidFill>
                <a:latin typeface="Arial"/>
                <a:ea typeface="Arial"/>
                <a:cs typeface="Arial"/>
              </a:defRPr>
            </a:defPPr>
          </a:lstStyle>
          <a:p xmlns:a="http://schemas.openxmlformats.org/drawingml/2006/main">
            <a:pPr algn="ctr">
              <a:lnSpc>
                <a:spcPct val="105000"/>
              </a:lnSpc>
              <a:buNone/>
              <a:defRPr sz="1875" b="1">
                <a:solidFill>
                  <a:srgbClr val="172A2C"/>
                </a:solidFill>
                <a:latin typeface="Arial"/>
                <a:ea typeface="Arial"/>
                <a:cs typeface="Arial"/>
              </a:defRPr>
            </a:pPr>
            <a:r>
              <a:rPr sz="1875" b="1">
                <a:solidFill>
                  <a:srgbClr val="172A2C"/>
                </a:solidFill>
                <a:latin typeface="Arial"/>
                <a:ea typeface="Arial"/>
                <a:cs typeface="Arial"/>
              </a:rPr>
              <a:t>Get a prediction</a:t>
            </a:r>
          </a:p>
        </p:txBody>
      </p:sp>
      <p:sp>
        <p:nvSpPr>
          <p:cNvPr id="12" name="flow-step-body-2">
            <a:extLst xmlns:a="http://schemas.openxmlformats.org/drawingml/2006/main">
              <a:ext uri="{FF2B5EF4-FFF2-40B4-BE49-F238E27FC236}">
                <a16:creationId xmlns:a16="http://schemas.microsoft.com/office/drawing/2014/main" id="{A1338A56-7D86-44B1-85A5-1986F10AD618}"/>
              </a:ext>
            </a:extLst>
          </p:cNvPr>
          <p:cNvSpPr>
            <a:spLocks xmlns:a="http://schemas.openxmlformats.org/drawingml/2006/main" noGrp="1"/>
          </p:cNvSpPr>
          <p:nvPr/>
        </p:nvSpPr>
        <p:spPr>
          <a:xfrm xmlns:a="http://schemas.openxmlformats.org/drawingml/2006/main">
            <a:off x="3524250" y="33147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536B6B"/>
                </a:solidFill>
                <a:latin typeface="Arial"/>
                <a:ea typeface="Arial"/>
                <a:cs typeface="Arial"/>
              </a:defRPr>
            </a:defPPr>
          </a:lstStyle>
          <a:p xmlns:a="http://schemas.openxmlformats.org/drawingml/2006/main">
            <a:pPr algn="ctr">
              <a:lnSpc>
                <a:spcPct val="112000"/>
              </a:lnSpc>
              <a:buNone/>
              <a:defRPr sz="1650" b="0">
                <a:solidFill>
                  <a:srgbClr val="536B6B"/>
                </a:solidFill>
                <a:latin typeface="Arial"/>
                <a:ea typeface="Arial"/>
                <a:cs typeface="Arial"/>
              </a:defRPr>
            </a:pPr>
            <a:r>
              <a:rPr sz="1650" b="0">
                <a:solidFill>
                  <a:srgbClr val="536B6B"/>
                </a:solidFill>
                <a:latin typeface="Arial"/>
                <a:ea typeface="Arial"/>
                <a:cs typeface="Arial"/>
              </a:rPr>
              <a:t>Suggested material</a:t>
            </a:r>
          </a:p>
          <a:p xmlns:a="http://schemas.openxmlformats.org/drawingml/2006/main">
            <a:pPr algn="ctr">
              <a:lnSpc>
                <a:spcPct val="112000"/>
              </a:lnSpc>
              <a:buNone/>
              <a:defRPr sz="1650" b="0">
                <a:solidFill>
                  <a:srgbClr val="536B6B"/>
                </a:solidFill>
                <a:latin typeface="Arial"/>
                <a:ea typeface="Arial"/>
                <a:cs typeface="Arial"/>
              </a:defRPr>
            </a:pPr>
            <a:r>
              <a:rPr sz="1650" b="0">
                <a:solidFill>
                  <a:srgbClr val="536B6B"/>
                </a:solidFill>
                <a:latin typeface="Arial"/>
                <a:ea typeface="Arial"/>
                <a:cs typeface="Arial"/>
              </a:rPr>
              <a:t>class + confidence</a:t>
            </a:r>
          </a:p>
        </p:txBody>
      </p:sp>
      <p:sp>
        <p:nvSpPr>
          <p:cNvPr id="13" name="flow-step-circle-3">
            <a:extLst xmlns:a="http://schemas.openxmlformats.org/drawingml/2006/main">
              <a:ext uri="{FF2B5EF4-FFF2-40B4-BE49-F238E27FC236}">
                <a16:creationId xmlns:a16="http://schemas.microsoft.com/office/drawing/2014/main" id="{FE714D6E-6D12-4CF1-B8D6-27407587400B}"/>
              </a:ext>
            </a:extLst>
          </p:cNvPr>
          <p:cNvSpPr>
            <a:spLocks xmlns:a="http://schemas.openxmlformats.org/drawingml/2006/main" noGrp="1"/>
          </p:cNvSpPr>
          <p:nvPr/>
        </p:nvSpPr>
        <p:spPr>
          <a:xfrm xmlns:a="http://schemas.openxmlformats.org/drawingml/2006/main">
            <a:off x="7210425" y="1952625"/>
            <a:ext cx="552450" cy="552450"/>
          </a:xfrm>
          <a:prstGeom xmlns:a="http://schemas.openxmlformats.org/drawingml/2006/main" prst="ellipse">
            <a:avLst/>
          </a:prstGeom>
          <a:solidFill xmlns:a="http://schemas.openxmlformats.org/drawingml/2006/main">
            <a:srgbClr val="73A942"/>
          </a:solidFill>
          <a:ln xmlns:a="http://schemas.openxmlformats.org/drawingml/2006/main" w="0">
            <a:noFill/>
            <a:prstDash val="solid"/>
          </a:ln>
        </p:spPr>
      </p:sp>
      <p:sp>
        <p:nvSpPr>
          <p:cNvPr id="14" name="flow-step-number-3">
            <a:extLst xmlns:a="http://schemas.openxmlformats.org/drawingml/2006/main">
              <a:ext uri="{FF2B5EF4-FFF2-40B4-BE49-F238E27FC236}">
                <a16:creationId xmlns:a16="http://schemas.microsoft.com/office/drawing/2014/main" id="{53B7D312-E5A4-49B4-BE2E-584E3E25D52E}"/>
              </a:ext>
            </a:extLst>
          </p:cNvPr>
          <p:cNvSpPr>
            <a:spLocks xmlns:a="http://schemas.openxmlformats.org/drawingml/2006/main" noGrp="1"/>
          </p:cNvSpPr>
          <p:nvPr/>
        </p:nvSpPr>
        <p:spPr>
          <a:xfrm xmlns:a="http://schemas.openxmlformats.org/drawingml/2006/main">
            <a:off x="7277100" y="20764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3</a:t>
            </a:r>
          </a:p>
        </p:txBody>
      </p:sp>
      <p:sp>
        <p:nvSpPr>
          <p:cNvPr id="15" name="flow-step-title-3">
            <a:extLst xmlns:a="http://schemas.openxmlformats.org/drawingml/2006/main">
              <a:ext uri="{FF2B5EF4-FFF2-40B4-BE49-F238E27FC236}">
                <a16:creationId xmlns:a16="http://schemas.microsoft.com/office/drawing/2014/main" id="{37724FEF-3F01-4ED0-9846-6FDC1BAF094F}"/>
              </a:ext>
            </a:extLst>
          </p:cNvPr>
          <p:cNvSpPr>
            <a:spLocks xmlns:a="http://schemas.openxmlformats.org/drawingml/2006/main" noGrp="1"/>
          </p:cNvSpPr>
          <p:nvPr/>
        </p:nvSpPr>
        <p:spPr>
          <a:xfrm xmlns:a="http://schemas.openxmlformats.org/drawingml/2006/main">
            <a:off x="6343650" y="28289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72A2C"/>
                </a:solidFill>
                <a:latin typeface="Arial"/>
                <a:ea typeface="Arial"/>
                <a:cs typeface="Arial"/>
              </a:defRPr>
            </a:defPPr>
          </a:lstStyle>
          <a:p xmlns:a="http://schemas.openxmlformats.org/drawingml/2006/main">
            <a:pPr algn="ctr">
              <a:lnSpc>
                <a:spcPct val="105000"/>
              </a:lnSpc>
              <a:buNone/>
              <a:defRPr sz="1875" b="1">
                <a:solidFill>
                  <a:srgbClr val="172A2C"/>
                </a:solidFill>
                <a:latin typeface="Arial"/>
                <a:ea typeface="Arial"/>
                <a:cs typeface="Arial"/>
              </a:defRPr>
            </a:pPr>
            <a:r>
              <a:rPr sz="1875" b="1">
                <a:solidFill>
                  <a:srgbClr val="172A2C"/>
                </a:solidFill>
                <a:latin typeface="Arial"/>
                <a:ea typeface="Arial"/>
                <a:cs typeface="Arial"/>
              </a:rPr>
              <a:t>Read the advice</a:t>
            </a:r>
          </a:p>
        </p:txBody>
      </p:sp>
      <p:sp>
        <p:nvSpPr>
          <p:cNvPr id="16" name="flow-step-body-3">
            <a:extLst xmlns:a="http://schemas.openxmlformats.org/drawingml/2006/main">
              <a:ext uri="{FF2B5EF4-FFF2-40B4-BE49-F238E27FC236}">
                <a16:creationId xmlns:a16="http://schemas.microsoft.com/office/drawing/2014/main" id="{BFD1B8F3-2599-40A8-8BC3-ECFF5B3F2BD5}"/>
              </a:ext>
            </a:extLst>
          </p:cNvPr>
          <p:cNvSpPr>
            <a:spLocks xmlns:a="http://schemas.openxmlformats.org/drawingml/2006/main" noGrp="1"/>
          </p:cNvSpPr>
          <p:nvPr/>
        </p:nvSpPr>
        <p:spPr>
          <a:xfrm xmlns:a="http://schemas.openxmlformats.org/drawingml/2006/main">
            <a:off x="6343650" y="33147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536B6B"/>
                </a:solidFill>
                <a:latin typeface="Arial"/>
                <a:ea typeface="Arial"/>
                <a:cs typeface="Arial"/>
              </a:defRPr>
            </a:defPPr>
          </a:lstStyle>
          <a:p xmlns:a="http://schemas.openxmlformats.org/drawingml/2006/main">
            <a:pPr algn="ctr">
              <a:lnSpc>
                <a:spcPct val="112000"/>
              </a:lnSpc>
              <a:buNone/>
              <a:defRPr sz="1650" b="0">
                <a:solidFill>
                  <a:srgbClr val="536B6B"/>
                </a:solidFill>
                <a:latin typeface="Arial"/>
                <a:ea typeface="Arial"/>
                <a:cs typeface="Arial"/>
              </a:defRPr>
            </a:pPr>
            <a:r>
              <a:rPr sz="1650" b="0">
                <a:solidFill>
                  <a:srgbClr val="536B6B"/>
                </a:solidFill>
                <a:latin typeface="Arial"/>
                <a:ea typeface="Arial"/>
                <a:cs typeface="Arial"/>
              </a:rPr>
              <a:t>Prep, safety or</a:t>
            </a:r>
          </a:p>
          <a:p xmlns:a="http://schemas.openxmlformats.org/drawingml/2006/main">
            <a:pPr algn="ctr">
              <a:lnSpc>
                <a:spcPct val="112000"/>
              </a:lnSpc>
              <a:buNone/>
              <a:defRPr sz="1650" b="0">
                <a:solidFill>
                  <a:srgbClr val="536B6B"/>
                </a:solidFill>
                <a:latin typeface="Arial"/>
                <a:ea typeface="Arial"/>
                <a:cs typeface="Arial"/>
              </a:defRPr>
            </a:pPr>
            <a:r>
              <a:rPr sz="1650" b="0">
                <a:solidFill>
                  <a:srgbClr val="536B6B"/>
                </a:solidFill>
                <a:latin typeface="Arial"/>
                <a:ea typeface="Arial"/>
                <a:cs typeface="Arial"/>
              </a:rPr>
              <a:t>upcycle guidance</a:t>
            </a:r>
          </a:p>
        </p:txBody>
      </p:sp>
      <p:sp>
        <p:nvSpPr>
          <p:cNvPr id="17" name="flow-step-circle-4">
            <a:extLst xmlns:a="http://schemas.openxmlformats.org/drawingml/2006/main">
              <a:ext uri="{FF2B5EF4-FFF2-40B4-BE49-F238E27FC236}">
                <a16:creationId xmlns:a16="http://schemas.microsoft.com/office/drawing/2014/main" id="{4CD6A738-F9D9-41D4-B4E7-B4EE482DCABB}"/>
              </a:ext>
            </a:extLst>
          </p:cNvPr>
          <p:cNvSpPr>
            <a:spLocks xmlns:a="http://schemas.openxmlformats.org/drawingml/2006/main" noGrp="1"/>
          </p:cNvSpPr>
          <p:nvPr/>
        </p:nvSpPr>
        <p:spPr>
          <a:xfrm xmlns:a="http://schemas.openxmlformats.org/drawingml/2006/main">
            <a:off x="10029825" y="1952625"/>
            <a:ext cx="552450" cy="552450"/>
          </a:xfrm>
          <a:prstGeom xmlns:a="http://schemas.openxmlformats.org/drawingml/2006/main" prst="ellipse">
            <a:avLst/>
          </a:prstGeom>
          <a:solidFill xmlns:a="http://schemas.openxmlformats.org/drawingml/2006/main">
            <a:srgbClr val="C7852F"/>
          </a:solidFill>
          <a:ln xmlns:a="http://schemas.openxmlformats.org/drawingml/2006/main" w="0">
            <a:noFill/>
            <a:prstDash val="solid"/>
          </a:ln>
        </p:spPr>
      </p:sp>
      <p:sp>
        <p:nvSpPr>
          <p:cNvPr id="18" name="flow-step-number-4">
            <a:extLst xmlns:a="http://schemas.openxmlformats.org/drawingml/2006/main">
              <a:ext uri="{FF2B5EF4-FFF2-40B4-BE49-F238E27FC236}">
                <a16:creationId xmlns:a16="http://schemas.microsoft.com/office/drawing/2014/main" id="{ED678AF7-656F-43B7-A00B-B49235D9A7A4}"/>
              </a:ext>
            </a:extLst>
          </p:cNvPr>
          <p:cNvSpPr>
            <a:spLocks xmlns:a="http://schemas.openxmlformats.org/drawingml/2006/main" noGrp="1"/>
          </p:cNvSpPr>
          <p:nvPr/>
        </p:nvSpPr>
        <p:spPr>
          <a:xfrm xmlns:a="http://schemas.openxmlformats.org/drawingml/2006/main">
            <a:off x="10096500" y="20764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4</a:t>
            </a:r>
          </a:p>
        </p:txBody>
      </p:sp>
      <p:sp>
        <p:nvSpPr>
          <p:cNvPr id="19" name="flow-step-title-4">
            <a:extLst xmlns:a="http://schemas.openxmlformats.org/drawingml/2006/main">
              <a:ext uri="{FF2B5EF4-FFF2-40B4-BE49-F238E27FC236}">
                <a16:creationId xmlns:a16="http://schemas.microsoft.com/office/drawing/2014/main" id="{58E25E94-8881-4D8D-8871-1E384F9090F7}"/>
              </a:ext>
            </a:extLst>
          </p:cNvPr>
          <p:cNvSpPr>
            <a:spLocks xmlns:a="http://schemas.openxmlformats.org/drawingml/2006/main" noGrp="1"/>
          </p:cNvSpPr>
          <p:nvPr/>
        </p:nvSpPr>
        <p:spPr>
          <a:xfrm xmlns:a="http://schemas.openxmlformats.org/drawingml/2006/main">
            <a:off x="9163050" y="28289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72A2C"/>
                </a:solidFill>
                <a:latin typeface="Arial"/>
                <a:ea typeface="Arial"/>
                <a:cs typeface="Arial"/>
              </a:defRPr>
            </a:defPPr>
          </a:lstStyle>
          <a:p xmlns:a="http://schemas.openxmlformats.org/drawingml/2006/main">
            <a:pPr algn="ctr">
              <a:lnSpc>
                <a:spcPct val="105000"/>
              </a:lnSpc>
              <a:buNone/>
              <a:defRPr sz="1875" b="1">
                <a:solidFill>
                  <a:srgbClr val="172A2C"/>
                </a:solidFill>
                <a:latin typeface="Arial"/>
                <a:ea typeface="Arial"/>
                <a:cs typeface="Arial"/>
              </a:defRPr>
            </a:pPr>
            <a:r>
              <a:rPr sz="1875" b="1">
                <a:solidFill>
                  <a:srgbClr val="172A2C"/>
                </a:solidFill>
                <a:latin typeface="Arial"/>
                <a:ea typeface="Arial"/>
                <a:cs typeface="Arial"/>
              </a:rPr>
              <a:t>See its route</a:t>
            </a:r>
          </a:p>
        </p:txBody>
      </p:sp>
      <p:sp>
        <p:nvSpPr>
          <p:cNvPr id="20" name="flow-step-body-4">
            <a:extLst xmlns:a="http://schemas.openxmlformats.org/drawingml/2006/main">
              <a:ext uri="{FF2B5EF4-FFF2-40B4-BE49-F238E27FC236}">
                <a16:creationId xmlns:a16="http://schemas.microsoft.com/office/drawing/2014/main" id="{9A1DBFBD-5FD1-43D6-9B28-BD98E3B73341}"/>
              </a:ext>
            </a:extLst>
          </p:cNvPr>
          <p:cNvSpPr>
            <a:spLocks xmlns:a="http://schemas.openxmlformats.org/drawingml/2006/main" noGrp="1"/>
          </p:cNvSpPr>
          <p:nvPr/>
        </p:nvSpPr>
        <p:spPr>
          <a:xfrm xmlns:a="http://schemas.openxmlformats.org/drawingml/2006/main">
            <a:off x="9163050" y="33147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536B6B"/>
                </a:solidFill>
                <a:latin typeface="Arial"/>
                <a:ea typeface="Arial"/>
                <a:cs typeface="Arial"/>
              </a:defRPr>
            </a:defPPr>
          </a:lstStyle>
          <a:p xmlns:a="http://schemas.openxmlformats.org/drawingml/2006/main">
            <a:pPr algn="ctr">
              <a:lnSpc>
                <a:spcPct val="112000"/>
              </a:lnSpc>
              <a:buNone/>
              <a:defRPr sz="1650" b="0">
                <a:solidFill>
                  <a:srgbClr val="536B6B"/>
                </a:solidFill>
                <a:latin typeface="Arial"/>
                <a:ea typeface="Arial"/>
                <a:cs typeface="Arial"/>
              </a:defRPr>
            </a:pPr>
            <a:r>
              <a:rPr sz="1650" b="0">
                <a:solidFill>
                  <a:srgbClr val="536B6B"/>
                </a:solidFill>
                <a:latin typeface="Arial"/>
                <a:ea typeface="Arial"/>
                <a:cs typeface="Arial"/>
              </a:rPr>
              <a:t>Simulated twin path</a:t>
            </a:r>
          </a:p>
          <a:p xmlns:a="http://schemas.openxmlformats.org/drawingml/2006/main">
            <a:pPr algn="ctr">
              <a:lnSpc>
                <a:spcPct val="112000"/>
              </a:lnSpc>
              <a:buNone/>
              <a:defRPr sz="1650" b="0">
                <a:solidFill>
                  <a:srgbClr val="536B6B"/>
                </a:solidFill>
                <a:latin typeface="Arial"/>
                <a:ea typeface="Arial"/>
                <a:cs typeface="Arial"/>
              </a:defRPr>
            </a:pPr>
            <a:r>
              <a:rPr sz="1650" b="0">
                <a:solidFill>
                  <a:srgbClr val="536B6B"/>
                </a:solidFill>
                <a:latin typeface="Arial"/>
                <a:ea typeface="Arial"/>
                <a:cs typeface="Arial"/>
              </a:rPr>
              <a:t>and audit entry</a:t>
            </a:r>
          </a:p>
        </p:txBody>
      </p:sp>
      <p:sp>
        <p:nvSpPr>
          <p:cNvPr id="21" name="flow-fallback-band">
            <a:extLst xmlns:a="http://schemas.openxmlformats.org/drawingml/2006/main">
              <a:ext uri="{FF2B5EF4-FFF2-40B4-BE49-F238E27FC236}">
                <a16:creationId xmlns:a16="http://schemas.microsoft.com/office/drawing/2014/main" id="{BC4FDF71-4832-46C4-A9E1-A366136511BF}"/>
              </a:ext>
            </a:extLst>
          </p:cNvPr>
          <p:cNvSpPr>
            <a:spLocks xmlns:a="http://schemas.openxmlformats.org/drawingml/2006/main" noGrp="1"/>
          </p:cNvSpPr>
          <p:nvPr/>
        </p:nvSpPr>
        <p:spPr>
          <a:xfrm xmlns:a="http://schemas.openxmlformats.org/drawingml/2006/main">
            <a:off x="685800" y="4953000"/>
            <a:ext cx="10820400" cy="723900"/>
          </a:xfrm>
          <a:prstGeom xmlns:a="http://schemas.openxmlformats.org/drawingml/2006/main" prst="roundRect">
            <a:avLst>
              <a:gd name="adj" fmla="val 15789"/>
            </a:avLst>
          </a:prstGeom>
          <a:solidFill xmlns:a="http://schemas.openxmlformats.org/drawingml/2006/main">
            <a:srgbClr val="E7F0DE"/>
          </a:solidFill>
          <a:ln xmlns:a="http://schemas.openxmlformats.org/drawingml/2006/main" w="0">
            <a:noFill/>
            <a:prstDash val="solid"/>
          </a:ln>
        </p:spPr>
      </p:sp>
      <p:sp>
        <p:nvSpPr>
          <p:cNvPr id="22" name="flow-fallback">
            <a:extLst xmlns:a="http://schemas.openxmlformats.org/drawingml/2006/main">
              <a:ext uri="{FF2B5EF4-FFF2-40B4-BE49-F238E27FC236}">
                <a16:creationId xmlns:a16="http://schemas.microsoft.com/office/drawing/2014/main" id="{9E7DC2A0-166A-4F3F-83E9-FAE8617B4A8E}"/>
              </a:ext>
            </a:extLst>
          </p:cNvPr>
          <p:cNvSpPr>
            <a:spLocks xmlns:a="http://schemas.openxmlformats.org/drawingml/2006/main" noGrp="1"/>
          </p:cNvSpPr>
          <p:nvPr/>
        </p:nvSpPr>
        <p:spPr>
          <a:xfrm xmlns:a="http://schemas.openxmlformats.org/drawingml/2006/main">
            <a:off x="933450" y="5181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172A2C"/>
                </a:solidFill>
                <a:latin typeface="Arial"/>
                <a:ea typeface="Arial"/>
                <a:cs typeface="Arial"/>
              </a:defRPr>
            </a:defPPr>
          </a:lstStyle>
          <a:p xmlns:a="http://schemas.openxmlformats.org/drawingml/2006/main">
            <a:pPr algn="l">
              <a:lnSpc>
                <a:spcPct val="105000"/>
              </a:lnSpc>
              <a:buNone/>
              <a:defRPr sz="1725" b="1">
                <a:solidFill>
                  <a:srgbClr val="172A2C"/>
                </a:solidFill>
                <a:latin typeface="Arial"/>
                <a:ea typeface="Arial"/>
                <a:cs typeface="Arial"/>
              </a:defRPr>
            </a:pPr>
            <a:r>
              <a:rPr sz="1725" b="1">
                <a:solidFill>
                  <a:srgbClr val="172A2C"/>
                </a:solidFill>
                <a:latin typeface="Arial"/>
                <a:ea typeface="Arial"/>
                <a:cs typeface="Arial"/>
              </a:rPr>
              <a:t>Demo fallback: use a curated specimen if the camera or model is unavailable.</a:t>
            </a:r>
          </a:p>
        </p:txBody>
      </p:sp>
    </p:spTree>
    <p:extLst>
      <p:ext uri="{BB962C8B-B14F-4D97-AF65-F5344CB8AC3E}">
        <p14:creationId xmlns:p14="http://schemas.microsoft.com/office/powerpoint/2010/main" val="422255718"/>
      </p:ext>
    </p:extLst>
  </p:cSld>
</p:sld>
</file>

<file path=ppt/slides/slide5.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23" name="twin-table-outline">
            <a:extLst xmlns:a="http://schemas.openxmlformats.org/drawingml/2006/main">
              <a:ext uri="{FF2B5EF4-FFF2-40B4-BE49-F238E27FC236}">
                <a16:creationId xmlns:a16="http://schemas.microsoft.com/office/drawing/2014/main" id="{3095C42D-F891-4973-A69A-2DB42C20197F}"/>
              </a:ext>
            </a:extLst>
          </p:cNvPr>
          <p:cNvSpPr>
            <a:spLocks xmlns:a="http://schemas.openxmlformats.org/drawingml/2006/main" noGrp="1"/>
          </p:cNvSpPr>
          <p:nvPr/>
        </p:nvSpPr>
        <p:spPr>
          <a:xfrm xmlns:a="http://schemas.openxmlformats.org/drawingml/2006/main">
            <a:off x="685800" y="1809750"/>
            <a:ext cx="10820400" cy="3067050"/>
          </a:xfrm>
          <a:prstGeom xmlns:a="http://schemas.openxmlformats.org/drawingml/2006/main" prst="roundRect">
            <a:avLst>
              <a:gd name="adj" fmla="val 3727"/>
            </a:avLst>
          </a:prstGeom>
          <a:noFill xmlns:a="http://schemas.openxmlformats.org/drawingml/2006/main"/>
          <a:ln xmlns:a="http://schemas.openxmlformats.org/drawingml/2006/main" w="19050">
            <a:solidFill>
              <a:srgbClr val="C9D5CE"/>
            </a:solidFill>
            <a:prstDash val="solid"/>
          </a:ln>
        </p:spPr>
      </p:sp>
      <p:sp>
        <p:nvSpPr>
          <p:cNvPr id="22" name="slide-5-title">
            <a:extLst xmlns:a="http://schemas.openxmlformats.org/drawingml/2006/main">
              <a:ext uri="{FF2B5EF4-FFF2-40B4-BE49-F238E27FC236}">
                <a16:creationId xmlns:a16="http://schemas.microsoft.com/office/drawing/2014/main" id="{3F5375D6-CBD5-4537-B0AC-BCAFD93AD0DA}"/>
              </a:ext>
            </a:extLst>
          </p:cNvPr>
          <p:cNvSpPr>
            <a:spLocks xmlns:a="http://schemas.openxmlformats.org/drawingml/2006/main" noGrp="1"/>
          </p:cNvSpPr>
          <p:nvPr/>
        </p:nvSpPr>
        <p:spPr>
          <a:xfrm xmlns:a="http://schemas.openxmlformats.org/drawingml/2006/main">
            <a:off x="685800" y="55245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172A2C"/>
                </a:solidFill>
                <a:latin typeface="Arial"/>
                <a:ea typeface="Arial"/>
                <a:cs typeface="Arial"/>
              </a:defRPr>
            </a:defPPr>
          </a:lstStyle>
          <a:p xmlns:a="http://schemas.openxmlformats.org/drawingml/2006/main">
            <a:pPr algn="l">
              <a:lnSpc>
                <a:spcPct val="95000"/>
              </a:lnSpc>
              <a:buNone/>
              <a:defRPr sz="3000" b="1">
                <a:solidFill>
                  <a:srgbClr val="172A2C"/>
                </a:solidFill>
                <a:latin typeface="Arial"/>
                <a:ea typeface="Arial"/>
                <a:cs typeface="Arial"/>
              </a:defRPr>
            </a:pPr>
            <a:r>
              <a:rPr sz="3000" b="1">
                <a:solidFill>
                  <a:srgbClr val="172A2C"/>
                </a:solidFill>
                <a:latin typeface="Arial"/>
                <a:ea typeface="Arial"/>
                <a:cs typeface="Arial"/>
              </a:rPr>
              <a:t>THE DIGITAL TWIN SHOWS A SIMULATED SORTING LINE</a:t>
            </a:r>
          </a:p>
        </p:txBody>
      </p:sp>
      <p:sp>
        <p:nvSpPr>
          <p:cNvPr id="2" name="slide-5-number">
            <a:extLst xmlns:a="http://schemas.openxmlformats.org/drawingml/2006/main">
              <a:ext uri="{FF2B5EF4-FFF2-40B4-BE49-F238E27FC236}">
                <a16:creationId xmlns:a16="http://schemas.microsoft.com/office/drawing/2014/main" id="{90442257-E677-42B6-9E56-3CD2A99E3994}"/>
              </a:ext>
            </a:extLst>
          </p:cNvPr>
          <p:cNvSpPr>
            <a:spLocks xmlns:a="http://schemas.openxmlformats.org/drawingml/2006/main" noGrp="1"/>
          </p:cNvSpPr>
          <p:nvPr/>
        </p:nvSpPr>
        <p:spPr>
          <a:xfrm xmlns:a="http://schemas.openxmlformats.org/drawingml/2006/main">
            <a:off x="11144250" y="63627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1">
                <a:solidFill>
                  <a:srgbClr val="536B6B"/>
                </a:solidFill>
                <a:latin typeface="Arial"/>
                <a:ea typeface="Arial"/>
                <a:cs typeface="Arial"/>
              </a:defRPr>
            </a:defPPr>
          </a:lstStyle>
          <a:p xmlns:a="http://schemas.openxmlformats.org/drawingml/2006/main">
            <a:pPr algn="r">
              <a:lnSpc>
                <a:spcPct val="105000"/>
              </a:lnSpc>
              <a:buNone/>
              <a:defRPr sz="1200" b="1">
                <a:solidFill>
                  <a:srgbClr val="536B6B"/>
                </a:solidFill>
                <a:latin typeface="Arial"/>
                <a:ea typeface="Arial"/>
                <a:cs typeface="Arial"/>
              </a:defRPr>
            </a:pPr>
            <a:r>
              <a:rPr sz="1200" b="1">
                <a:solidFill>
                  <a:srgbClr val="536B6B"/>
                </a:solidFill>
                <a:latin typeface="Arial"/>
                <a:ea typeface="Arial"/>
                <a:cs typeface="Arial"/>
              </a:rPr>
              <a:t>05</a:t>
            </a:r>
          </a:p>
        </p:txBody>
      </p:sp>
      <p:sp>
        <p:nvSpPr>
          <p:cNvPr id="3" name="twin-subtitle">
            <a:extLst xmlns:a="http://schemas.openxmlformats.org/drawingml/2006/main">
              <a:ext uri="{FF2B5EF4-FFF2-40B4-BE49-F238E27FC236}">
                <a16:creationId xmlns:a16="http://schemas.microsoft.com/office/drawing/2014/main" id="{D78E6423-1531-42E7-A5A0-985F683E230E}"/>
              </a:ext>
            </a:extLst>
          </p:cNvPr>
          <p:cNvSpPr>
            <a:spLocks xmlns:a="http://schemas.openxmlformats.org/drawingml/2006/main" noGrp="1"/>
          </p:cNvSpPr>
          <p:nvPr/>
        </p:nvSpPr>
        <p:spPr>
          <a:xfrm xmlns:a="http://schemas.openxmlformats.org/drawingml/2006/main">
            <a:off x="685800" y="1371600"/>
            <a:ext cx="1038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36B6B"/>
                </a:solidFill>
                <a:latin typeface="Arial"/>
                <a:ea typeface="Arial"/>
                <a:cs typeface="Arial"/>
              </a:defRPr>
            </a:defPPr>
          </a:lstStyle>
          <a:p xmlns:a="http://schemas.openxmlformats.org/drawingml/2006/main">
            <a:pPr algn="l">
              <a:lnSpc>
                <a:spcPct val="105000"/>
              </a:lnSpc>
              <a:buNone/>
              <a:defRPr sz="1725" b="0">
                <a:solidFill>
                  <a:srgbClr val="536B6B"/>
                </a:solidFill>
                <a:latin typeface="Arial"/>
                <a:ea typeface="Arial"/>
                <a:cs typeface="Arial"/>
              </a:defRPr>
            </a:pPr>
            <a:r>
              <a:rPr sz="1725" b="0">
                <a:solidFill>
                  <a:srgbClr val="536B6B"/>
                </a:solidFill>
                <a:latin typeface="Arial"/>
                <a:ea typeface="Arial"/>
                <a:cs typeface="Arial"/>
              </a:rPr>
              <a:t>A predicted material class is mapped to a destination in the demo model.</a:t>
            </a:r>
          </a:p>
        </p:txBody>
      </p:sp>
      <p:sp>
        <p:nvSpPr>
          <p:cNvPr id="4" name="twin-col-a">
            <a:extLst xmlns:a="http://schemas.openxmlformats.org/drawingml/2006/main">
              <a:ext uri="{FF2B5EF4-FFF2-40B4-BE49-F238E27FC236}">
                <a16:creationId xmlns:a16="http://schemas.microsoft.com/office/drawing/2014/main" id="{555B2983-DACF-4F29-AE82-8BA5BB31DD30}"/>
              </a:ext>
            </a:extLst>
          </p:cNvPr>
          <p:cNvSpPr>
            <a:spLocks xmlns:a="http://schemas.openxmlformats.org/drawingml/2006/main" noGrp="1"/>
          </p:cNvSpPr>
          <p:nvPr/>
        </p:nvSpPr>
        <p:spPr>
          <a:xfrm xmlns:a="http://schemas.openxmlformats.org/drawingml/2006/main">
            <a:off x="895350" y="1952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6B6B"/>
                </a:solidFill>
                <a:latin typeface="Arial"/>
                <a:ea typeface="Arial"/>
                <a:cs typeface="Arial"/>
              </a:defRPr>
            </a:defPPr>
          </a:lstStyle>
          <a:p xmlns:a="http://schemas.openxmlformats.org/drawingml/2006/main">
            <a:pPr algn="l">
              <a:lnSpc>
                <a:spcPct val="105000"/>
              </a:lnSpc>
              <a:buNone/>
              <a:defRPr sz="1275" b="1">
                <a:solidFill>
                  <a:srgbClr val="536B6B"/>
                </a:solidFill>
                <a:latin typeface="Arial"/>
                <a:ea typeface="Arial"/>
                <a:cs typeface="Arial"/>
              </a:defRPr>
            </a:pPr>
            <a:r>
              <a:rPr sz="1275" b="1">
                <a:solidFill>
                  <a:srgbClr val="536B6B"/>
                </a:solidFill>
                <a:latin typeface="Arial"/>
                <a:ea typeface="Arial"/>
                <a:cs typeface="Arial"/>
              </a:rPr>
              <a:t>MATERIAL CLASS</a:t>
            </a:r>
          </a:p>
        </p:txBody>
      </p:sp>
      <p:sp>
        <p:nvSpPr>
          <p:cNvPr id="5" name="twin-col-b">
            <a:extLst xmlns:a="http://schemas.openxmlformats.org/drawingml/2006/main">
              <a:ext uri="{FF2B5EF4-FFF2-40B4-BE49-F238E27FC236}">
                <a16:creationId xmlns:a16="http://schemas.microsoft.com/office/drawing/2014/main" id="{F1FAE6EA-4AB3-4C68-A228-9EA6C051C344}"/>
              </a:ext>
            </a:extLst>
          </p:cNvPr>
          <p:cNvSpPr>
            <a:spLocks xmlns:a="http://schemas.openxmlformats.org/drawingml/2006/main" noGrp="1"/>
          </p:cNvSpPr>
          <p:nvPr/>
        </p:nvSpPr>
        <p:spPr>
          <a:xfrm xmlns:a="http://schemas.openxmlformats.org/drawingml/2006/main">
            <a:off x="7143750" y="195262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6B6B"/>
                </a:solidFill>
                <a:latin typeface="Arial"/>
                <a:ea typeface="Arial"/>
                <a:cs typeface="Arial"/>
              </a:defRPr>
            </a:defPPr>
          </a:lstStyle>
          <a:p xmlns:a="http://schemas.openxmlformats.org/drawingml/2006/main">
            <a:pPr algn="l">
              <a:lnSpc>
                <a:spcPct val="105000"/>
              </a:lnSpc>
              <a:buNone/>
              <a:defRPr sz="1275" b="1">
                <a:solidFill>
                  <a:srgbClr val="536B6B"/>
                </a:solidFill>
                <a:latin typeface="Arial"/>
                <a:ea typeface="Arial"/>
                <a:cs typeface="Arial"/>
              </a:defRPr>
            </a:pPr>
            <a:r>
              <a:rPr sz="1275" b="1">
                <a:solidFill>
                  <a:srgbClr val="536B6B"/>
                </a:solidFill>
                <a:latin typeface="Arial"/>
                <a:ea typeface="Arial"/>
                <a:cs typeface="Arial"/>
              </a:rPr>
              <a:t>DEMO DESTINATION</a:t>
            </a:r>
          </a:p>
        </p:txBody>
      </p:sp>
      <p:sp>
        <p:nvSpPr>
          <p:cNvPr id="6" name="twin-route-class-1">
            <a:extLst xmlns:a="http://schemas.openxmlformats.org/drawingml/2006/main">
              <a:ext uri="{FF2B5EF4-FFF2-40B4-BE49-F238E27FC236}">
                <a16:creationId xmlns:a16="http://schemas.microsoft.com/office/drawing/2014/main" id="{697054C2-F5FF-48C9-8476-28030031EF18}"/>
              </a:ext>
            </a:extLst>
          </p:cNvPr>
          <p:cNvSpPr>
            <a:spLocks xmlns:a="http://schemas.openxmlformats.org/drawingml/2006/main" noGrp="1"/>
          </p:cNvSpPr>
          <p:nvPr/>
        </p:nvSpPr>
        <p:spPr>
          <a:xfrm xmlns:a="http://schemas.openxmlformats.org/drawingml/2006/main">
            <a:off x="895350" y="23812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67C78"/>
                </a:solidFill>
                <a:latin typeface="Arial"/>
                <a:ea typeface="Arial"/>
                <a:cs typeface="Arial"/>
              </a:defRPr>
            </a:defPPr>
          </a:lstStyle>
          <a:p xmlns:a="http://schemas.openxmlformats.org/drawingml/2006/main">
            <a:pPr algn="l">
              <a:lnSpc>
                <a:spcPct val="105000"/>
              </a:lnSpc>
              <a:buNone/>
              <a:defRPr sz="1875" b="1">
                <a:solidFill>
                  <a:srgbClr val="167C78"/>
                </a:solidFill>
                <a:latin typeface="Arial"/>
                <a:ea typeface="Arial"/>
                <a:cs typeface="Arial"/>
              </a:defRPr>
            </a:pPr>
            <a:r>
              <a:rPr sz="1875" b="1">
                <a:solidFill>
                  <a:srgbClr val="167C78"/>
                </a:solidFill>
                <a:latin typeface="Arial"/>
                <a:ea typeface="Arial"/>
                <a:cs typeface="Arial"/>
              </a:rPr>
              <a:t>Recyclable</a:t>
            </a:r>
          </a:p>
        </p:txBody>
      </p:sp>
      <p:sp>
        <p:nvSpPr>
          <p:cNvPr id="7" name="twin-route-line-1">
            <a:extLst xmlns:a="http://schemas.openxmlformats.org/drawingml/2006/main">
              <a:ext uri="{FF2B5EF4-FFF2-40B4-BE49-F238E27FC236}">
                <a16:creationId xmlns:a16="http://schemas.microsoft.com/office/drawing/2014/main" id="{DCB04B88-03B9-43E7-A32C-D5C207FD37F8}"/>
              </a:ext>
            </a:extLst>
          </p:cNvPr>
          <p:cNvSpPr>
            <a:spLocks xmlns:a="http://schemas.openxmlformats.org/drawingml/2006/main" noGrp="1"/>
          </p:cNvSpPr>
          <p:nvPr/>
        </p:nvSpPr>
        <p:spPr>
          <a:xfrm xmlns:a="http://schemas.openxmlformats.org/drawingml/2006/main">
            <a:off x="3829050" y="2552700"/>
            <a:ext cx="2857500" cy="28575"/>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8" name="twin-route-dest-1">
            <a:extLst xmlns:a="http://schemas.openxmlformats.org/drawingml/2006/main">
              <a:ext uri="{FF2B5EF4-FFF2-40B4-BE49-F238E27FC236}">
                <a16:creationId xmlns:a16="http://schemas.microsoft.com/office/drawing/2014/main" id="{2665392C-AAE0-407A-8BF6-5CD4D95002D6}"/>
              </a:ext>
            </a:extLst>
          </p:cNvPr>
          <p:cNvSpPr>
            <a:spLocks xmlns:a="http://schemas.openxmlformats.org/drawingml/2006/main" noGrp="1"/>
          </p:cNvSpPr>
          <p:nvPr/>
        </p:nvSpPr>
        <p:spPr>
          <a:xfrm xmlns:a="http://schemas.openxmlformats.org/drawingml/2006/main">
            <a:off x="7143750" y="23812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172A2C"/>
                </a:solidFill>
                <a:latin typeface="Arial"/>
                <a:ea typeface="Arial"/>
                <a:cs typeface="Arial"/>
              </a:defRPr>
            </a:defPPr>
          </a:lstStyle>
          <a:p xmlns:a="http://schemas.openxmlformats.org/drawingml/2006/main">
            <a:pPr algn="l">
              <a:lnSpc>
                <a:spcPct val="105000"/>
              </a:lnSpc>
              <a:buNone/>
              <a:defRPr sz="1800" b="0">
                <a:solidFill>
                  <a:srgbClr val="172A2C"/>
                </a:solidFill>
                <a:latin typeface="Arial"/>
                <a:ea typeface="Arial"/>
                <a:cs typeface="Arial"/>
              </a:defRPr>
            </a:pPr>
            <a:r>
              <a:rPr sz="1800" b="0">
                <a:solidFill>
                  <a:srgbClr val="172A2C"/>
                </a:solidFill>
                <a:latin typeface="Arial"/>
                <a:ea typeface="Arial"/>
                <a:cs typeface="Arial"/>
              </a:rPr>
              <a:t>Materials recovery facility</a:t>
            </a:r>
          </a:p>
        </p:txBody>
      </p:sp>
      <p:sp>
        <p:nvSpPr>
          <p:cNvPr id="9" name="twin-route-class-2">
            <a:extLst xmlns:a="http://schemas.openxmlformats.org/drawingml/2006/main">
              <a:ext uri="{FF2B5EF4-FFF2-40B4-BE49-F238E27FC236}">
                <a16:creationId xmlns:a16="http://schemas.microsoft.com/office/drawing/2014/main" id="{CE83D540-AE02-4483-9E67-014DB826E144}"/>
              </a:ext>
            </a:extLst>
          </p:cNvPr>
          <p:cNvSpPr>
            <a:spLocks xmlns:a="http://schemas.openxmlformats.org/drawingml/2006/main" noGrp="1"/>
          </p:cNvSpPr>
          <p:nvPr/>
        </p:nvSpPr>
        <p:spPr>
          <a:xfrm xmlns:a="http://schemas.openxmlformats.org/drawingml/2006/main">
            <a:off x="895350" y="30384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4C8DA8"/>
                </a:solidFill>
                <a:latin typeface="Arial"/>
                <a:ea typeface="Arial"/>
                <a:cs typeface="Arial"/>
              </a:defRPr>
            </a:defPPr>
          </a:lstStyle>
          <a:p xmlns:a="http://schemas.openxmlformats.org/drawingml/2006/main">
            <a:pPr algn="l">
              <a:lnSpc>
                <a:spcPct val="105000"/>
              </a:lnSpc>
              <a:buNone/>
              <a:defRPr sz="1875" b="1">
                <a:solidFill>
                  <a:srgbClr val="4C8DA8"/>
                </a:solidFill>
                <a:latin typeface="Arial"/>
                <a:ea typeface="Arial"/>
                <a:cs typeface="Arial"/>
              </a:defRPr>
            </a:pPr>
            <a:r>
              <a:rPr sz="1875" b="1">
                <a:solidFill>
                  <a:srgbClr val="4C8DA8"/>
                </a:solidFill>
                <a:latin typeface="Arial"/>
                <a:ea typeface="Arial"/>
                <a:cs typeface="Arial"/>
              </a:rPr>
              <a:t>Reusable</a:t>
            </a:r>
          </a:p>
        </p:txBody>
      </p:sp>
      <p:sp>
        <p:nvSpPr>
          <p:cNvPr id="10" name="twin-route-line-2">
            <a:extLst xmlns:a="http://schemas.openxmlformats.org/drawingml/2006/main">
              <a:ext uri="{FF2B5EF4-FFF2-40B4-BE49-F238E27FC236}">
                <a16:creationId xmlns:a16="http://schemas.microsoft.com/office/drawing/2014/main" id="{E14B6163-1ECF-44EC-B68B-097CD2ED7EE0}"/>
              </a:ext>
            </a:extLst>
          </p:cNvPr>
          <p:cNvSpPr>
            <a:spLocks xmlns:a="http://schemas.openxmlformats.org/drawingml/2006/main" noGrp="1"/>
          </p:cNvSpPr>
          <p:nvPr/>
        </p:nvSpPr>
        <p:spPr>
          <a:xfrm xmlns:a="http://schemas.openxmlformats.org/drawingml/2006/main">
            <a:off x="3829050" y="3209925"/>
            <a:ext cx="2857500" cy="28575"/>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1" name="twin-route-dest-2">
            <a:extLst xmlns:a="http://schemas.openxmlformats.org/drawingml/2006/main">
              <a:ext uri="{FF2B5EF4-FFF2-40B4-BE49-F238E27FC236}">
                <a16:creationId xmlns:a16="http://schemas.microsoft.com/office/drawing/2014/main" id="{2EDB0169-B180-4C42-955C-72202A5D5477}"/>
              </a:ext>
            </a:extLst>
          </p:cNvPr>
          <p:cNvSpPr>
            <a:spLocks xmlns:a="http://schemas.openxmlformats.org/drawingml/2006/main" noGrp="1"/>
          </p:cNvSpPr>
          <p:nvPr/>
        </p:nvSpPr>
        <p:spPr>
          <a:xfrm xmlns:a="http://schemas.openxmlformats.org/drawingml/2006/main">
            <a:off x="7143750" y="3038475"/>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172A2C"/>
                </a:solidFill>
                <a:latin typeface="Arial"/>
                <a:ea typeface="Arial"/>
                <a:cs typeface="Arial"/>
              </a:defRPr>
            </a:defPPr>
          </a:lstStyle>
          <a:p xmlns:a="http://schemas.openxmlformats.org/drawingml/2006/main">
            <a:pPr algn="l">
              <a:lnSpc>
                <a:spcPct val="105000"/>
              </a:lnSpc>
              <a:buNone/>
              <a:defRPr sz="1800" b="0">
                <a:solidFill>
                  <a:srgbClr val="172A2C"/>
                </a:solidFill>
                <a:latin typeface="Arial"/>
                <a:ea typeface="Arial"/>
                <a:cs typeface="Arial"/>
              </a:defRPr>
            </a:pPr>
            <a:r>
              <a:rPr sz="1800" b="0">
                <a:solidFill>
                  <a:srgbClr val="172A2C"/>
                </a:solidFill>
                <a:latin typeface="Arial"/>
                <a:ea typeface="Arial"/>
                <a:cs typeface="Arial"/>
              </a:rPr>
              <a:t>Second-life reuse depot</a:t>
            </a:r>
          </a:p>
        </p:txBody>
      </p:sp>
      <p:sp>
        <p:nvSpPr>
          <p:cNvPr id="12" name="twin-route-class-3">
            <a:extLst xmlns:a="http://schemas.openxmlformats.org/drawingml/2006/main">
              <a:ext uri="{FF2B5EF4-FFF2-40B4-BE49-F238E27FC236}">
                <a16:creationId xmlns:a16="http://schemas.microsoft.com/office/drawing/2014/main" id="{8C48DA74-1E45-45E9-8B28-9BD5BA06A669}"/>
              </a:ext>
            </a:extLst>
          </p:cNvPr>
          <p:cNvSpPr>
            <a:spLocks xmlns:a="http://schemas.openxmlformats.org/drawingml/2006/main" noGrp="1"/>
          </p:cNvSpPr>
          <p:nvPr/>
        </p:nvSpPr>
        <p:spPr>
          <a:xfrm xmlns:a="http://schemas.openxmlformats.org/drawingml/2006/main">
            <a:off x="895350" y="36957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73A942"/>
                </a:solidFill>
                <a:latin typeface="Arial"/>
                <a:ea typeface="Arial"/>
                <a:cs typeface="Arial"/>
              </a:defRPr>
            </a:defPPr>
          </a:lstStyle>
          <a:p xmlns:a="http://schemas.openxmlformats.org/drawingml/2006/main">
            <a:pPr algn="l">
              <a:lnSpc>
                <a:spcPct val="105000"/>
              </a:lnSpc>
              <a:buNone/>
              <a:defRPr sz="1875" b="1">
                <a:solidFill>
                  <a:srgbClr val="73A942"/>
                </a:solidFill>
                <a:latin typeface="Arial"/>
                <a:ea typeface="Arial"/>
                <a:cs typeface="Arial"/>
              </a:defRPr>
            </a:pPr>
            <a:r>
              <a:rPr sz="1875" b="1">
                <a:solidFill>
                  <a:srgbClr val="73A942"/>
                </a:solidFill>
                <a:latin typeface="Arial"/>
                <a:ea typeface="Arial"/>
                <a:cs typeface="Arial"/>
              </a:rPr>
              <a:t>Biodegradable</a:t>
            </a:r>
          </a:p>
        </p:txBody>
      </p:sp>
      <p:sp>
        <p:nvSpPr>
          <p:cNvPr id="13" name="twin-route-line-3">
            <a:extLst xmlns:a="http://schemas.openxmlformats.org/drawingml/2006/main">
              <a:ext uri="{FF2B5EF4-FFF2-40B4-BE49-F238E27FC236}">
                <a16:creationId xmlns:a16="http://schemas.microsoft.com/office/drawing/2014/main" id="{1ED18F2C-8062-4920-A200-ADC2BDCD1B89}"/>
              </a:ext>
            </a:extLst>
          </p:cNvPr>
          <p:cNvSpPr>
            <a:spLocks xmlns:a="http://schemas.openxmlformats.org/drawingml/2006/main" noGrp="1"/>
          </p:cNvSpPr>
          <p:nvPr/>
        </p:nvSpPr>
        <p:spPr>
          <a:xfrm xmlns:a="http://schemas.openxmlformats.org/drawingml/2006/main">
            <a:off x="3829050" y="3867150"/>
            <a:ext cx="2857500" cy="28575"/>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4" name="twin-route-dest-3">
            <a:extLst xmlns:a="http://schemas.openxmlformats.org/drawingml/2006/main">
              <a:ext uri="{FF2B5EF4-FFF2-40B4-BE49-F238E27FC236}">
                <a16:creationId xmlns:a16="http://schemas.microsoft.com/office/drawing/2014/main" id="{61B80370-A37E-4DC9-9196-E2772BE586B7}"/>
              </a:ext>
            </a:extLst>
          </p:cNvPr>
          <p:cNvSpPr>
            <a:spLocks xmlns:a="http://schemas.openxmlformats.org/drawingml/2006/main" noGrp="1"/>
          </p:cNvSpPr>
          <p:nvPr/>
        </p:nvSpPr>
        <p:spPr>
          <a:xfrm xmlns:a="http://schemas.openxmlformats.org/drawingml/2006/main">
            <a:off x="7143750" y="36957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172A2C"/>
                </a:solidFill>
                <a:latin typeface="Arial"/>
                <a:ea typeface="Arial"/>
                <a:cs typeface="Arial"/>
              </a:defRPr>
            </a:defPPr>
          </a:lstStyle>
          <a:p xmlns:a="http://schemas.openxmlformats.org/drawingml/2006/main">
            <a:pPr algn="l">
              <a:lnSpc>
                <a:spcPct val="105000"/>
              </a:lnSpc>
              <a:buNone/>
              <a:defRPr sz="1800" b="0">
                <a:solidFill>
                  <a:srgbClr val="172A2C"/>
                </a:solidFill>
                <a:latin typeface="Arial"/>
                <a:ea typeface="Arial"/>
                <a:cs typeface="Arial"/>
              </a:defRPr>
            </a:pPr>
            <a:r>
              <a:rPr sz="1800" b="0">
                <a:solidFill>
                  <a:srgbClr val="172A2C"/>
                </a:solidFill>
                <a:latin typeface="Arial"/>
                <a:ea typeface="Arial"/>
                <a:cs typeface="Arial"/>
              </a:rPr>
              <a:t>Anaerobic composter</a:t>
            </a:r>
          </a:p>
        </p:txBody>
      </p:sp>
      <p:sp>
        <p:nvSpPr>
          <p:cNvPr id="15" name="twin-route-class-4">
            <a:extLst xmlns:a="http://schemas.openxmlformats.org/drawingml/2006/main">
              <a:ext uri="{FF2B5EF4-FFF2-40B4-BE49-F238E27FC236}">
                <a16:creationId xmlns:a16="http://schemas.microsoft.com/office/drawing/2014/main" id="{B8B07245-9065-457A-A7D1-12CB8827B9C0}"/>
              </a:ext>
            </a:extLst>
          </p:cNvPr>
          <p:cNvSpPr>
            <a:spLocks xmlns:a="http://schemas.openxmlformats.org/drawingml/2006/main" noGrp="1"/>
          </p:cNvSpPr>
          <p:nvPr/>
        </p:nvSpPr>
        <p:spPr>
          <a:xfrm xmlns:a="http://schemas.openxmlformats.org/drawingml/2006/main">
            <a:off x="895350" y="435292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B65A4D"/>
                </a:solidFill>
                <a:latin typeface="Arial"/>
                <a:ea typeface="Arial"/>
                <a:cs typeface="Arial"/>
              </a:defRPr>
            </a:defPPr>
          </a:lstStyle>
          <a:p xmlns:a="http://schemas.openxmlformats.org/drawingml/2006/main">
            <a:pPr algn="l">
              <a:lnSpc>
                <a:spcPct val="105000"/>
              </a:lnSpc>
              <a:buNone/>
              <a:defRPr sz="1875" b="1">
                <a:solidFill>
                  <a:srgbClr val="B65A4D"/>
                </a:solidFill>
                <a:latin typeface="Arial"/>
                <a:ea typeface="Arial"/>
                <a:cs typeface="Arial"/>
              </a:defRPr>
            </a:pPr>
            <a:r>
              <a:rPr sz="1875" b="1">
                <a:solidFill>
                  <a:srgbClr val="B65A4D"/>
                </a:solidFill>
                <a:latin typeface="Arial"/>
                <a:ea typeface="Arial"/>
                <a:cs typeface="Arial"/>
              </a:rPr>
              <a:t>Hazardous</a:t>
            </a:r>
          </a:p>
        </p:txBody>
      </p:sp>
      <p:sp>
        <p:nvSpPr>
          <p:cNvPr id="16" name="twin-route-line-4">
            <a:extLst xmlns:a="http://schemas.openxmlformats.org/drawingml/2006/main">
              <a:ext uri="{FF2B5EF4-FFF2-40B4-BE49-F238E27FC236}">
                <a16:creationId xmlns:a16="http://schemas.microsoft.com/office/drawing/2014/main" id="{2314D36E-48DB-4172-928A-85F1D354F537}"/>
              </a:ext>
            </a:extLst>
          </p:cNvPr>
          <p:cNvSpPr>
            <a:spLocks xmlns:a="http://schemas.openxmlformats.org/drawingml/2006/main" noGrp="1"/>
          </p:cNvSpPr>
          <p:nvPr/>
        </p:nvSpPr>
        <p:spPr>
          <a:xfrm xmlns:a="http://schemas.openxmlformats.org/drawingml/2006/main">
            <a:off x="3829050" y="4524375"/>
            <a:ext cx="2857500" cy="28575"/>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7" name="twin-route-dest-4">
            <a:extLst xmlns:a="http://schemas.openxmlformats.org/drawingml/2006/main">
              <a:ext uri="{FF2B5EF4-FFF2-40B4-BE49-F238E27FC236}">
                <a16:creationId xmlns:a16="http://schemas.microsoft.com/office/drawing/2014/main" id="{D4E36FE3-0F79-4B78-95C8-C73A8F4A3BD3}"/>
              </a:ext>
            </a:extLst>
          </p:cNvPr>
          <p:cNvSpPr>
            <a:spLocks xmlns:a="http://schemas.openxmlformats.org/drawingml/2006/main" noGrp="1"/>
          </p:cNvSpPr>
          <p:nvPr/>
        </p:nvSpPr>
        <p:spPr>
          <a:xfrm xmlns:a="http://schemas.openxmlformats.org/drawingml/2006/main">
            <a:off x="7143750" y="4352925"/>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172A2C"/>
                </a:solidFill>
                <a:latin typeface="Arial"/>
                <a:ea typeface="Arial"/>
                <a:cs typeface="Arial"/>
              </a:defRPr>
            </a:defPPr>
          </a:lstStyle>
          <a:p xmlns:a="http://schemas.openxmlformats.org/drawingml/2006/main">
            <a:pPr algn="l">
              <a:lnSpc>
                <a:spcPct val="105000"/>
              </a:lnSpc>
              <a:buNone/>
              <a:defRPr sz="1800" b="0">
                <a:solidFill>
                  <a:srgbClr val="172A2C"/>
                </a:solidFill>
                <a:latin typeface="Arial"/>
                <a:ea typeface="Arial"/>
                <a:cs typeface="Arial"/>
              </a:defRPr>
            </a:pPr>
            <a:r>
              <a:rPr sz="1800" b="0">
                <a:solidFill>
                  <a:srgbClr val="172A2C"/>
                </a:solidFill>
                <a:latin typeface="Arial"/>
                <a:ea typeface="Arial"/>
                <a:cs typeface="Arial"/>
              </a:rPr>
              <a:t>Remediation vault</a:t>
            </a:r>
          </a:p>
        </p:txBody>
      </p:sp>
      <p:sp>
        <p:nvSpPr>
          <p:cNvPr id="18" name="twin-metrics-band">
            <a:extLst xmlns:a="http://schemas.openxmlformats.org/drawingml/2006/main">
              <a:ext uri="{FF2B5EF4-FFF2-40B4-BE49-F238E27FC236}">
                <a16:creationId xmlns:a16="http://schemas.microsoft.com/office/drawing/2014/main" id="{E69A6C5E-30E1-42BD-97C2-4C7F224D1ECA}"/>
              </a:ext>
            </a:extLst>
          </p:cNvPr>
          <p:cNvSpPr>
            <a:spLocks xmlns:a="http://schemas.openxmlformats.org/drawingml/2006/main" noGrp="1"/>
          </p:cNvSpPr>
          <p:nvPr/>
        </p:nvSpPr>
        <p:spPr>
          <a:xfrm xmlns:a="http://schemas.openxmlformats.org/drawingml/2006/main">
            <a:off x="685800" y="5143500"/>
            <a:ext cx="10820400" cy="1028700"/>
          </a:xfrm>
          <a:prstGeom xmlns:a="http://schemas.openxmlformats.org/drawingml/2006/main" prst="roundRect">
            <a:avLst>
              <a:gd name="adj" fmla="val 11111"/>
            </a:avLst>
          </a:prstGeom>
          <a:solidFill xmlns:a="http://schemas.openxmlformats.org/drawingml/2006/main">
            <a:srgbClr val="142832"/>
          </a:solidFill>
          <a:ln xmlns:a="http://schemas.openxmlformats.org/drawingml/2006/main" w="0">
            <a:noFill/>
            <a:prstDash val="solid"/>
          </a:ln>
        </p:spPr>
      </p:sp>
      <p:sp>
        <p:nvSpPr>
          <p:cNvPr id="19" name="twin-metrics-heading">
            <a:extLst xmlns:a="http://schemas.openxmlformats.org/drawingml/2006/main">
              <a:ext uri="{FF2B5EF4-FFF2-40B4-BE49-F238E27FC236}">
                <a16:creationId xmlns:a16="http://schemas.microsoft.com/office/drawing/2014/main" id="{0CB5BDD7-8700-46E1-A3A8-F2EE3FC82197}"/>
              </a:ext>
            </a:extLst>
          </p:cNvPr>
          <p:cNvSpPr>
            <a:spLocks xmlns:a="http://schemas.openxmlformats.org/drawingml/2006/main" noGrp="1"/>
          </p:cNvSpPr>
          <p:nvPr/>
        </p:nvSpPr>
        <p:spPr>
          <a:xfrm xmlns:a="http://schemas.openxmlformats.org/drawingml/2006/main">
            <a:off x="914400" y="52578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C6E86B"/>
                </a:solidFill>
                <a:latin typeface="Arial"/>
                <a:ea typeface="Arial"/>
                <a:cs typeface="Arial"/>
              </a:defRPr>
            </a:defPPr>
          </a:lstStyle>
          <a:p xmlns:a="http://schemas.openxmlformats.org/drawingml/2006/main">
            <a:pPr algn="l">
              <a:lnSpc>
                <a:spcPct val="105000"/>
              </a:lnSpc>
              <a:buNone/>
              <a:defRPr sz="1350" b="1">
                <a:solidFill>
                  <a:srgbClr val="C6E86B"/>
                </a:solidFill>
                <a:latin typeface="Arial"/>
                <a:ea typeface="Arial"/>
                <a:cs typeface="Arial"/>
              </a:defRPr>
            </a:pPr>
            <a:r>
              <a:rPr sz="1350" b="1">
                <a:solidFill>
                  <a:srgbClr val="C6E86B"/>
                </a:solidFill>
                <a:latin typeface="Arial"/>
                <a:ea typeface="Arial"/>
                <a:cs typeface="Arial"/>
              </a:rPr>
              <a:t>Dashboard counters in the README</a:t>
            </a:r>
          </a:p>
        </p:txBody>
      </p:sp>
      <p:sp>
        <p:nvSpPr>
          <p:cNvPr id="20" name="twin-metrics">
            <a:extLst xmlns:a="http://schemas.openxmlformats.org/drawingml/2006/main">
              <a:ext uri="{FF2B5EF4-FFF2-40B4-BE49-F238E27FC236}">
                <a16:creationId xmlns:a16="http://schemas.microsoft.com/office/drawing/2014/main" id="{5AED9090-3E0B-4433-853B-F69405C01260}"/>
              </a:ext>
            </a:extLst>
          </p:cNvPr>
          <p:cNvSpPr>
            <a:spLocks xmlns:a="http://schemas.openxmlformats.org/drawingml/2006/main" noGrp="1"/>
          </p:cNvSpPr>
          <p:nvPr/>
        </p:nvSpPr>
        <p:spPr>
          <a:xfrm xmlns:a="http://schemas.openxmlformats.org/drawingml/2006/main">
            <a:off x="914400" y="552450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Sorted mass  ·  landfill diversion  ·  CO₂ avoided  ·  water and energy saved</a:t>
            </a:r>
          </a:p>
        </p:txBody>
      </p:sp>
      <p:sp>
        <p:nvSpPr>
          <p:cNvPr id="21" name="twin-warning">
            <a:extLst xmlns:a="http://schemas.openxmlformats.org/drawingml/2006/main">
              <a:ext uri="{FF2B5EF4-FFF2-40B4-BE49-F238E27FC236}">
                <a16:creationId xmlns:a16="http://schemas.microsoft.com/office/drawing/2014/main" id="{6A764EB1-A52A-4E53-AC08-87652EA073BE}"/>
              </a:ext>
            </a:extLst>
          </p:cNvPr>
          <p:cNvSpPr>
            <a:spLocks xmlns:a="http://schemas.openxmlformats.org/drawingml/2006/main" noGrp="1"/>
          </p:cNvSpPr>
          <p:nvPr/>
        </p:nvSpPr>
        <p:spPr>
          <a:xfrm xmlns:a="http://schemas.openxmlformats.org/drawingml/2006/main">
            <a:off x="914400" y="5848350"/>
            <a:ext cx="1019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D8E4DC"/>
                </a:solidFill>
                <a:latin typeface="Arial"/>
                <a:ea typeface="Arial"/>
                <a:cs typeface="Arial"/>
              </a:defRPr>
            </a:defPPr>
          </a:lstStyle>
          <a:p xmlns:a="http://schemas.openxmlformats.org/drawingml/2006/main">
            <a:pPr algn="l">
              <a:lnSpc>
                <a:spcPct val="105000"/>
              </a:lnSpc>
              <a:buNone/>
              <a:defRPr sz="1275" b="0">
                <a:solidFill>
                  <a:srgbClr val="D8E4DC"/>
                </a:solidFill>
                <a:latin typeface="Arial"/>
                <a:ea typeface="Arial"/>
                <a:cs typeface="Arial"/>
              </a:defRPr>
            </a:pPr>
            <a:r>
              <a:rPr sz="1275" b="0">
                <a:solidFill>
                  <a:srgbClr val="D8E4DC"/>
                </a:solidFill>
                <a:latin typeface="Arial"/>
                <a:ea typeface="Arial"/>
                <a:cs typeface="Arial"/>
              </a:rPr>
              <a:t>These are simulated or estimated demo values, not live facility measurements.</a:t>
            </a:r>
          </a:p>
        </p:txBody>
      </p:sp>
    </p:spTree>
    <p:extLst>
      <p:ext uri="{BB962C8B-B14F-4D97-AF65-F5344CB8AC3E}">
        <p14:creationId xmlns:p14="http://schemas.microsoft.com/office/powerpoint/2010/main" val="379321876"/>
      </p:ext>
    </p:extLst>
  </p:cSld>
</p:sld>
</file>

<file path=ppt/slides/slide6.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16" name="slide-6-title">
            <a:extLst xmlns:a="http://schemas.openxmlformats.org/drawingml/2006/main">
              <a:ext uri="{FF2B5EF4-FFF2-40B4-BE49-F238E27FC236}">
                <a16:creationId xmlns:a16="http://schemas.microsoft.com/office/drawing/2014/main" id="{D028C1EE-F836-4AAF-B45D-CACA66CC3AF5}"/>
              </a:ext>
            </a:extLst>
          </p:cNvPr>
          <p:cNvSpPr>
            <a:spLocks xmlns:a="http://schemas.openxmlformats.org/drawingml/2006/main" noGrp="1"/>
          </p:cNvSpPr>
          <p:nvPr/>
        </p:nvSpPr>
        <p:spPr>
          <a:xfrm xmlns:a="http://schemas.openxmlformats.org/drawingml/2006/main">
            <a:off x="685800" y="5524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A2C"/>
                </a:solidFill>
                <a:latin typeface="Arial"/>
                <a:ea typeface="Arial"/>
                <a:cs typeface="Arial"/>
              </a:defRPr>
            </a:defPPr>
          </a:lstStyle>
          <a:p xmlns:a="http://schemas.openxmlformats.org/drawingml/2006/main">
            <a:pPr algn="l">
              <a:lnSpc>
                <a:spcPct val="95000"/>
              </a:lnSpc>
              <a:buNone/>
              <a:defRPr sz="3300" b="1">
                <a:solidFill>
                  <a:srgbClr val="172A2C"/>
                </a:solidFill>
                <a:latin typeface="Arial"/>
                <a:ea typeface="Arial"/>
                <a:cs typeface="Arial"/>
              </a:defRPr>
            </a:pPr>
            <a:r>
              <a:rPr sz="3300" b="1">
                <a:solidFill>
                  <a:srgbClr val="172A2C"/>
                </a:solidFill>
                <a:latin typeface="Arial"/>
                <a:ea typeface="Arial"/>
                <a:cs typeface="Arial"/>
              </a:rPr>
              <a:t>PROJECT TECHNOLOGY STACK, IN PLAIN TERMS</a:t>
            </a:r>
          </a:p>
        </p:txBody>
      </p:sp>
      <p:sp>
        <p:nvSpPr>
          <p:cNvPr id="2" name="slide-6-number">
            <a:extLst xmlns:a="http://schemas.openxmlformats.org/drawingml/2006/main">
              <a:ext uri="{FF2B5EF4-FFF2-40B4-BE49-F238E27FC236}">
                <a16:creationId xmlns:a16="http://schemas.microsoft.com/office/drawing/2014/main" id="{40510169-2420-4F64-B274-8C59302DD904}"/>
              </a:ext>
            </a:extLst>
          </p:cNvPr>
          <p:cNvSpPr>
            <a:spLocks xmlns:a="http://schemas.openxmlformats.org/drawingml/2006/main" noGrp="1"/>
          </p:cNvSpPr>
          <p:nvPr/>
        </p:nvSpPr>
        <p:spPr>
          <a:xfrm xmlns:a="http://schemas.openxmlformats.org/drawingml/2006/main">
            <a:off x="11144250" y="63627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1">
                <a:solidFill>
                  <a:srgbClr val="536B6B"/>
                </a:solidFill>
                <a:latin typeface="Arial"/>
                <a:ea typeface="Arial"/>
                <a:cs typeface="Arial"/>
              </a:defRPr>
            </a:defPPr>
          </a:lstStyle>
          <a:p xmlns:a="http://schemas.openxmlformats.org/drawingml/2006/main">
            <a:pPr algn="r">
              <a:lnSpc>
                <a:spcPct val="105000"/>
              </a:lnSpc>
              <a:buNone/>
              <a:defRPr sz="1200" b="1">
                <a:solidFill>
                  <a:srgbClr val="536B6B"/>
                </a:solidFill>
                <a:latin typeface="Arial"/>
                <a:ea typeface="Arial"/>
                <a:cs typeface="Arial"/>
              </a:defRPr>
            </a:pPr>
            <a:r>
              <a:rPr sz="1200" b="1">
                <a:solidFill>
                  <a:srgbClr val="536B6B"/>
                </a:solidFill>
                <a:latin typeface="Arial"/>
                <a:ea typeface="Arial"/>
                <a:cs typeface="Arial"/>
              </a:rPr>
              <a:t>06</a:t>
            </a:r>
          </a:p>
        </p:txBody>
      </p:sp>
      <p:sp>
        <p:nvSpPr>
          <p:cNvPr id="3" name="stack-subtitle">
            <a:extLst xmlns:a="http://schemas.openxmlformats.org/drawingml/2006/main">
              <a:ext uri="{FF2B5EF4-FFF2-40B4-BE49-F238E27FC236}">
                <a16:creationId xmlns:a16="http://schemas.microsoft.com/office/drawing/2014/main" id="{006EEEF9-1854-4717-9542-51F76CE24B2D}"/>
              </a:ext>
            </a:extLst>
          </p:cNvPr>
          <p:cNvSpPr>
            <a:spLocks xmlns:a="http://schemas.openxmlformats.org/drawingml/2006/main" noGrp="1"/>
          </p:cNvSpPr>
          <p:nvPr/>
        </p:nvSpPr>
        <p:spPr>
          <a:xfrm xmlns:a="http://schemas.openxmlformats.org/drawingml/2006/main">
            <a:off x="685800" y="1371600"/>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36B6B"/>
                </a:solidFill>
                <a:latin typeface="Arial"/>
                <a:ea typeface="Arial"/>
                <a:cs typeface="Arial"/>
              </a:defRPr>
            </a:defPPr>
          </a:lstStyle>
          <a:p xmlns:a="http://schemas.openxmlformats.org/drawingml/2006/main">
            <a:pPr algn="l">
              <a:lnSpc>
                <a:spcPct val="105000"/>
              </a:lnSpc>
              <a:buNone/>
              <a:defRPr sz="1725" b="0">
                <a:solidFill>
                  <a:srgbClr val="536B6B"/>
                </a:solidFill>
                <a:latin typeface="Arial"/>
                <a:ea typeface="Arial"/>
                <a:cs typeface="Arial"/>
              </a:defRPr>
            </a:pPr>
            <a:r>
              <a:rPr sz="1725" b="0">
                <a:solidFill>
                  <a:srgbClr val="536B6B"/>
                </a:solidFill>
                <a:latin typeface="Arial"/>
                <a:ea typeface="Arial"/>
                <a:cs typeface="Arial"/>
              </a:rPr>
              <a:t>Components documented by the project README</a:t>
            </a:r>
          </a:p>
        </p:txBody>
      </p:sp>
      <p:sp>
        <p:nvSpPr>
          <p:cNvPr id="4" name="stack-label-1">
            <a:extLst xmlns:a="http://schemas.openxmlformats.org/drawingml/2006/main">
              <a:ext uri="{FF2B5EF4-FFF2-40B4-BE49-F238E27FC236}">
                <a16:creationId xmlns:a16="http://schemas.microsoft.com/office/drawing/2014/main" id="{CC30E95B-F2F8-4E6F-8549-6E9184A41780}"/>
              </a:ext>
            </a:extLst>
          </p:cNvPr>
          <p:cNvSpPr>
            <a:spLocks xmlns:a="http://schemas.openxmlformats.org/drawingml/2006/main" noGrp="1"/>
          </p:cNvSpPr>
          <p:nvPr/>
        </p:nvSpPr>
        <p:spPr>
          <a:xfrm xmlns:a="http://schemas.openxmlformats.org/drawingml/2006/main">
            <a:off x="685800" y="1981200"/>
            <a:ext cx="2428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167C78"/>
                </a:solidFill>
                <a:latin typeface="Arial"/>
                <a:ea typeface="Arial"/>
                <a:cs typeface="Arial"/>
              </a:defRPr>
            </a:defPPr>
          </a:lstStyle>
          <a:p xmlns:a="http://schemas.openxmlformats.org/drawingml/2006/main">
            <a:pPr algn="l">
              <a:lnSpc>
                <a:spcPct val="105000"/>
              </a:lnSpc>
              <a:buNone/>
              <a:defRPr sz="2025" b="1">
                <a:solidFill>
                  <a:srgbClr val="167C78"/>
                </a:solidFill>
                <a:latin typeface="Arial"/>
                <a:ea typeface="Arial"/>
                <a:cs typeface="Arial"/>
              </a:defRPr>
            </a:pPr>
            <a:r>
              <a:rPr sz="2025" b="1">
                <a:solidFill>
                  <a:srgbClr val="167C78"/>
                </a:solidFill>
                <a:latin typeface="Arial"/>
                <a:ea typeface="Arial"/>
                <a:cs typeface="Arial"/>
              </a:rPr>
              <a:t>Browser</a:t>
            </a:r>
          </a:p>
        </p:txBody>
      </p:sp>
      <p:sp>
        <p:nvSpPr>
          <p:cNvPr id="5" name="stack-divider-1">
            <a:extLst xmlns:a="http://schemas.openxmlformats.org/drawingml/2006/main">
              <a:ext uri="{FF2B5EF4-FFF2-40B4-BE49-F238E27FC236}">
                <a16:creationId xmlns:a16="http://schemas.microsoft.com/office/drawing/2014/main" id="{7CB03112-C4A9-4758-8BB3-F623D335AB11}"/>
              </a:ext>
            </a:extLst>
          </p:cNvPr>
          <p:cNvSpPr>
            <a:spLocks xmlns:a="http://schemas.openxmlformats.org/drawingml/2006/main" noGrp="1"/>
          </p:cNvSpPr>
          <p:nvPr/>
        </p:nvSpPr>
        <p:spPr>
          <a:xfrm xmlns:a="http://schemas.openxmlformats.org/drawingml/2006/main">
            <a:off x="3162300" y="1943100"/>
            <a:ext cx="19050" cy="781050"/>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6" name="stack-text-1">
            <a:extLst xmlns:a="http://schemas.openxmlformats.org/drawingml/2006/main">
              <a:ext uri="{FF2B5EF4-FFF2-40B4-BE49-F238E27FC236}">
                <a16:creationId xmlns:a16="http://schemas.microsoft.com/office/drawing/2014/main" id="{32C8D73A-0A3D-4FAA-A474-D3F3866BBAE2}"/>
              </a:ext>
            </a:extLst>
          </p:cNvPr>
          <p:cNvSpPr>
            <a:spLocks xmlns:a="http://schemas.openxmlformats.org/drawingml/2006/main" noGrp="1"/>
          </p:cNvSpPr>
          <p:nvPr/>
        </p:nvSpPr>
        <p:spPr>
          <a:xfrm xmlns:a="http://schemas.openxmlformats.org/drawingml/2006/main">
            <a:off x="3505200" y="1981200"/>
            <a:ext cx="7715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2A2C"/>
                </a:solidFill>
                <a:latin typeface="Arial"/>
                <a:ea typeface="Arial"/>
                <a:cs typeface="Arial"/>
              </a:defRPr>
            </a:defPPr>
          </a:lstStyle>
          <a:p xmlns:a="http://schemas.openxmlformats.org/drawingml/2006/main">
            <a:pPr algn="l">
              <a:lnSpc>
                <a:spcPct val="112000"/>
              </a:lnSpc>
              <a:buNone/>
              <a:defRPr sz="1650" b="0">
                <a:solidFill>
                  <a:srgbClr val="172A2C"/>
                </a:solidFill>
                <a:latin typeface="Arial"/>
                <a:ea typeface="Arial"/>
                <a:cs typeface="Arial"/>
              </a:defRPr>
            </a:pPr>
            <a:r>
              <a:rPr sz="1650" b="0">
                <a:solidFill>
                  <a:srgbClr val="172A2C"/>
                </a:solidFill>
                <a:latin typeface="Arial"/>
                <a:ea typeface="Arial"/>
                <a:cs typeface="Arial"/>
              </a:rPr>
              <a:t>HTML, CSS and JavaScript. The README lists TensorFlow.js and a COCO-SSD model for browser vision, with vendored assets for offline use.</a:t>
            </a:r>
          </a:p>
        </p:txBody>
      </p:sp>
      <p:sp>
        <p:nvSpPr>
          <p:cNvPr id="7" name="stack-row-rule-1">
            <a:extLst xmlns:a="http://schemas.openxmlformats.org/drawingml/2006/main">
              <a:ext uri="{FF2B5EF4-FFF2-40B4-BE49-F238E27FC236}">
                <a16:creationId xmlns:a16="http://schemas.microsoft.com/office/drawing/2014/main" id="{29D18B92-3CAF-4EB3-B0F8-C94B3DE95B7E}"/>
              </a:ext>
            </a:extLst>
          </p:cNvPr>
          <p:cNvSpPr>
            <a:spLocks xmlns:a="http://schemas.openxmlformats.org/drawingml/2006/main" noGrp="1"/>
          </p:cNvSpPr>
          <p:nvPr/>
        </p:nvSpPr>
        <p:spPr>
          <a:xfrm xmlns:a="http://schemas.openxmlformats.org/drawingml/2006/main">
            <a:off x="685800" y="2981325"/>
            <a:ext cx="10820400" cy="9525"/>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8" name="stack-label-2">
            <a:extLst xmlns:a="http://schemas.openxmlformats.org/drawingml/2006/main">
              <a:ext uri="{FF2B5EF4-FFF2-40B4-BE49-F238E27FC236}">
                <a16:creationId xmlns:a16="http://schemas.microsoft.com/office/drawing/2014/main" id="{349FBB81-1025-49AA-AA14-FFF684583E1E}"/>
              </a:ext>
            </a:extLst>
          </p:cNvPr>
          <p:cNvSpPr>
            <a:spLocks xmlns:a="http://schemas.openxmlformats.org/drawingml/2006/main" noGrp="1"/>
          </p:cNvSpPr>
          <p:nvPr/>
        </p:nvSpPr>
        <p:spPr>
          <a:xfrm xmlns:a="http://schemas.openxmlformats.org/drawingml/2006/main">
            <a:off x="685800" y="3171825"/>
            <a:ext cx="2428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4C8DA8"/>
                </a:solidFill>
                <a:latin typeface="Arial"/>
                <a:ea typeface="Arial"/>
                <a:cs typeface="Arial"/>
              </a:defRPr>
            </a:defPPr>
          </a:lstStyle>
          <a:p xmlns:a="http://schemas.openxmlformats.org/drawingml/2006/main">
            <a:pPr algn="l">
              <a:lnSpc>
                <a:spcPct val="105000"/>
              </a:lnSpc>
              <a:buNone/>
              <a:defRPr sz="2025" b="1">
                <a:solidFill>
                  <a:srgbClr val="4C8DA8"/>
                </a:solidFill>
                <a:latin typeface="Arial"/>
                <a:ea typeface="Arial"/>
                <a:cs typeface="Arial"/>
              </a:defRPr>
            </a:pPr>
            <a:r>
              <a:rPr sz="2025" b="1">
                <a:solidFill>
                  <a:srgbClr val="4C8DA8"/>
                </a:solidFill>
                <a:latin typeface="Arial"/>
                <a:ea typeface="Arial"/>
                <a:cs typeface="Arial"/>
              </a:rPr>
              <a:t>Server</a:t>
            </a:r>
          </a:p>
        </p:txBody>
      </p:sp>
      <p:sp>
        <p:nvSpPr>
          <p:cNvPr id="9" name="stack-divider-2">
            <a:extLst xmlns:a="http://schemas.openxmlformats.org/drawingml/2006/main">
              <a:ext uri="{FF2B5EF4-FFF2-40B4-BE49-F238E27FC236}">
                <a16:creationId xmlns:a16="http://schemas.microsoft.com/office/drawing/2014/main" id="{7A3424D9-20D0-4CF3-A3C0-047505C6594F}"/>
              </a:ext>
            </a:extLst>
          </p:cNvPr>
          <p:cNvSpPr>
            <a:spLocks xmlns:a="http://schemas.openxmlformats.org/drawingml/2006/main" noGrp="1"/>
          </p:cNvSpPr>
          <p:nvPr/>
        </p:nvSpPr>
        <p:spPr>
          <a:xfrm xmlns:a="http://schemas.openxmlformats.org/drawingml/2006/main">
            <a:off x="3162300" y="3133725"/>
            <a:ext cx="19050" cy="781050"/>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0" name="stack-text-2">
            <a:extLst xmlns:a="http://schemas.openxmlformats.org/drawingml/2006/main">
              <a:ext uri="{FF2B5EF4-FFF2-40B4-BE49-F238E27FC236}">
                <a16:creationId xmlns:a16="http://schemas.microsoft.com/office/drawing/2014/main" id="{87DA9F33-8E14-496A-A326-3C7575CE1382}"/>
              </a:ext>
            </a:extLst>
          </p:cNvPr>
          <p:cNvSpPr>
            <a:spLocks xmlns:a="http://schemas.openxmlformats.org/drawingml/2006/main" noGrp="1"/>
          </p:cNvSpPr>
          <p:nvPr/>
        </p:nvSpPr>
        <p:spPr>
          <a:xfrm xmlns:a="http://schemas.openxmlformats.org/drawingml/2006/main">
            <a:off x="3505200" y="3171825"/>
            <a:ext cx="7715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2A2C"/>
                </a:solidFill>
                <a:latin typeface="Arial"/>
                <a:ea typeface="Arial"/>
                <a:cs typeface="Arial"/>
              </a:defRPr>
            </a:defPPr>
          </a:lstStyle>
          <a:p xmlns:a="http://schemas.openxmlformats.org/drawingml/2006/main">
            <a:pPr algn="l">
              <a:lnSpc>
                <a:spcPct val="112000"/>
              </a:lnSpc>
              <a:buNone/>
              <a:defRPr sz="1650" b="0">
                <a:solidFill>
                  <a:srgbClr val="172A2C"/>
                </a:solidFill>
                <a:latin typeface="Arial"/>
                <a:ea typeface="Arial"/>
                <a:cs typeface="Arial"/>
              </a:defRPr>
            </a:pPr>
            <a:r>
              <a:rPr sz="1650" b="0">
                <a:solidFill>
                  <a:srgbClr val="172A2C"/>
                </a:solidFill>
                <a:latin typeface="Arial"/>
                <a:ea typeface="Arial"/>
                <a:cs typeface="Arial"/>
              </a:rPr>
              <a:t>A zero-dependency Node.js local server and API routes. A standalone Python computer-vision companion is also listed.</a:t>
            </a:r>
          </a:p>
        </p:txBody>
      </p:sp>
      <p:sp>
        <p:nvSpPr>
          <p:cNvPr id="11" name="stack-row-rule-2">
            <a:extLst xmlns:a="http://schemas.openxmlformats.org/drawingml/2006/main">
              <a:ext uri="{FF2B5EF4-FFF2-40B4-BE49-F238E27FC236}">
                <a16:creationId xmlns:a16="http://schemas.microsoft.com/office/drawing/2014/main" id="{93424E7B-13AB-4469-B529-F3A5DC08F87F}"/>
              </a:ext>
            </a:extLst>
          </p:cNvPr>
          <p:cNvSpPr>
            <a:spLocks xmlns:a="http://schemas.openxmlformats.org/drawingml/2006/main" noGrp="1"/>
          </p:cNvSpPr>
          <p:nvPr/>
        </p:nvSpPr>
        <p:spPr>
          <a:xfrm xmlns:a="http://schemas.openxmlformats.org/drawingml/2006/main">
            <a:off x="685800" y="4171950"/>
            <a:ext cx="10820400" cy="9525"/>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2" name="stack-label-3">
            <a:extLst xmlns:a="http://schemas.openxmlformats.org/drawingml/2006/main">
              <a:ext uri="{FF2B5EF4-FFF2-40B4-BE49-F238E27FC236}">
                <a16:creationId xmlns:a16="http://schemas.microsoft.com/office/drawing/2014/main" id="{A5862A3B-AF86-40B0-97F4-2A62DFF0F5B1}"/>
              </a:ext>
            </a:extLst>
          </p:cNvPr>
          <p:cNvSpPr>
            <a:spLocks xmlns:a="http://schemas.openxmlformats.org/drawingml/2006/main" noGrp="1"/>
          </p:cNvSpPr>
          <p:nvPr/>
        </p:nvSpPr>
        <p:spPr>
          <a:xfrm xmlns:a="http://schemas.openxmlformats.org/drawingml/2006/main">
            <a:off x="685800" y="4362450"/>
            <a:ext cx="2428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73A942"/>
                </a:solidFill>
                <a:latin typeface="Arial"/>
                <a:ea typeface="Arial"/>
                <a:cs typeface="Arial"/>
              </a:defRPr>
            </a:defPPr>
          </a:lstStyle>
          <a:p xmlns:a="http://schemas.openxmlformats.org/drawingml/2006/main">
            <a:pPr algn="l">
              <a:lnSpc>
                <a:spcPct val="105000"/>
              </a:lnSpc>
              <a:buNone/>
              <a:defRPr sz="2025" b="1">
                <a:solidFill>
                  <a:srgbClr val="73A942"/>
                </a:solidFill>
                <a:latin typeface="Arial"/>
                <a:ea typeface="Arial"/>
                <a:cs typeface="Arial"/>
              </a:defRPr>
            </a:pPr>
            <a:r>
              <a:rPr sz="2025" b="1">
                <a:solidFill>
                  <a:srgbClr val="73A942"/>
                </a:solidFill>
                <a:latin typeface="Arial"/>
                <a:ea typeface="Arial"/>
                <a:cs typeface="Arial"/>
              </a:rPr>
              <a:t>Advisor + data</a:t>
            </a:r>
          </a:p>
        </p:txBody>
      </p:sp>
      <p:sp>
        <p:nvSpPr>
          <p:cNvPr id="13" name="stack-divider-3">
            <a:extLst xmlns:a="http://schemas.openxmlformats.org/drawingml/2006/main">
              <a:ext uri="{FF2B5EF4-FFF2-40B4-BE49-F238E27FC236}">
                <a16:creationId xmlns:a16="http://schemas.microsoft.com/office/drawing/2014/main" id="{69FAAEE8-11AB-433B-81CA-71978BD8CC39}"/>
              </a:ext>
            </a:extLst>
          </p:cNvPr>
          <p:cNvSpPr>
            <a:spLocks xmlns:a="http://schemas.openxmlformats.org/drawingml/2006/main" noGrp="1"/>
          </p:cNvSpPr>
          <p:nvPr/>
        </p:nvSpPr>
        <p:spPr>
          <a:xfrm xmlns:a="http://schemas.openxmlformats.org/drawingml/2006/main">
            <a:off x="3162300" y="4324350"/>
            <a:ext cx="19050" cy="781050"/>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4" name="stack-text-3">
            <a:extLst xmlns:a="http://schemas.openxmlformats.org/drawingml/2006/main">
              <a:ext uri="{FF2B5EF4-FFF2-40B4-BE49-F238E27FC236}">
                <a16:creationId xmlns:a16="http://schemas.microsoft.com/office/drawing/2014/main" id="{C142A4C7-BC14-4DA6-8017-549F18EF2FF9}"/>
              </a:ext>
            </a:extLst>
          </p:cNvPr>
          <p:cNvSpPr>
            <a:spLocks xmlns:a="http://schemas.openxmlformats.org/drawingml/2006/main" noGrp="1"/>
          </p:cNvSpPr>
          <p:nvPr/>
        </p:nvSpPr>
        <p:spPr>
          <a:xfrm xmlns:a="http://schemas.openxmlformats.org/drawingml/2006/main">
            <a:off x="3505200" y="4362450"/>
            <a:ext cx="7715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2A2C"/>
                </a:solidFill>
                <a:latin typeface="Arial"/>
                <a:ea typeface="Arial"/>
                <a:cs typeface="Arial"/>
              </a:defRPr>
            </a:defPPr>
          </a:lstStyle>
          <a:p xmlns:a="http://schemas.openxmlformats.org/drawingml/2006/main">
            <a:pPr algn="l">
              <a:lnSpc>
                <a:spcPct val="112000"/>
              </a:lnSpc>
              <a:buNone/>
              <a:defRPr sz="1650" b="0">
                <a:solidFill>
                  <a:srgbClr val="172A2C"/>
                </a:solidFill>
                <a:latin typeface="Arial"/>
                <a:ea typeface="Arial"/>
                <a:cs typeface="Arial"/>
              </a:defRPr>
            </a:pPr>
            <a:r>
              <a:rPr sz="1650" b="0">
                <a:solidFill>
                  <a:srgbClr val="172A2C"/>
                </a:solidFill>
                <a:latin typeface="Arial"/>
                <a:ea typeface="Arial"/>
                <a:cs typeface="Arial"/>
              </a:rPr>
              <a:t>Gemini is optional and needs an API key; built-in rules provide a fallback. Vercel storage is temporary, while CSV/JSON export runs in the browser.</a:t>
            </a:r>
          </a:p>
        </p:txBody>
      </p:sp>
      <p:sp>
        <p:nvSpPr>
          <p:cNvPr id="15" name="stack-caveat">
            <a:extLst xmlns:a="http://schemas.openxmlformats.org/drawingml/2006/main">
              <a:ext uri="{FF2B5EF4-FFF2-40B4-BE49-F238E27FC236}">
                <a16:creationId xmlns:a16="http://schemas.microsoft.com/office/drawing/2014/main" id="{0FDCC820-A494-4F2C-B475-748A5105D323}"/>
              </a:ext>
            </a:extLst>
          </p:cNvPr>
          <p:cNvSpPr>
            <a:spLocks xmlns:a="http://schemas.openxmlformats.org/drawingml/2006/main" noGrp="1"/>
          </p:cNvSpPr>
          <p:nvPr/>
        </p:nvSpPr>
        <p:spPr>
          <a:xfrm xmlns:a="http://schemas.openxmlformats.org/drawingml/2006/main">
            <a:off x="685800" y="585787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36B6B"/>
                </a:solidFill>
                <a:latin typeface="Arial"/>
                <a:ea typeface="Arial"/>
                <a:cs typeface="Arial"/>
              </a:defRPr>
            </a:defPPr>
          </a:lstStyle>
          <a:p xmlns:a="http://schemas.openxmlformats.org/drawingml/2006/main">
            <a:pPr algn="l">
              <a:lnSpc>
                <a:spcPct val="105000"/>
              </a:lnSpc>
              <a:buNone/>
              <a:defRPr sz="1275" b="0">
                <a:solidFill>
                  <a:srgbClr val="536B6B"/>
                </a:solidFill>
                <a:latin typeface="Arial"/>
                <a:ea typeface="Arial"/>
                <a:cs typeface="Arial"/>
              </a:defRPr>
            </a:pPr>
            <a:r>
              <a:rPr sz="1275" b="0">
                <a:solidFill>
                  <a:srgbClr val="536B6B"/>
                </a:solidFill>
                <a:latin typeface="Arial"/>
                <a:ea typeface="Arial"/>
                <a:cs typeface="Arial"/>
              </a:rPr>
              <a:t>Stack details are from the README; confirm the deployed build before the demo.</a:t>
            </a:r>
          </a:p>
        </p:txBody>
      </p:sp>
    </p:spTree>
    <p:extLst>
      <p:ext uri="{BB962C8B-B14F-4D97-AF65-F5344CB8AC3E}">
        <p14:creationId xmlns:p14="http://schemas.microsoft.com/office/powerpoint/2010/main" val="97395476"/>
      </p:ext>
    </p:extLst>
  </p:cSld>
</p:sld>
</file>

<file path=ppt/slides/slide7.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19" name="slide-7-title">
            <a:extLst xmlns:a="http://schemas.openxmlformats.org/drawingml/2006/main">
              <a:ext uri="{FF2B5EF4-FFF2-40B4-BE49-F238E27FC236}">
                <a16:creationId xmlns:a16="http://schemas.microsoft.com/office/drawing/2014/main" id="{F72FBBDB-5839-4124-B892-4C068900FF6C}"/>
              </a:ext>
            </a:extLst>
          </p:cNvPr>
          <p:cNvSpPr>
            <a:spLocks xmlns:a="http://schemas.openxmlformats.org/drawingml/2006/main" noGrp="1"/>
          </p:cNvSpPr>
          <p:nvPr/>
        </p:nvSpPr>
        <p:spPr>
          <a:xfrm xmlns:a="http://schemas.openxmlformats.org/drawingml/2006/main">
            <a:off x="685800" y="5524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A2C"/>
                </a:solidFill>
                <a:latin typeface="Arial"/>
                <a:ea typeface="Arial"/>
                <a:cs typeface="Arial"/>
              </a:defRPr>
            </a:defPPr>
          </a:lstStyle>
          <a:p xmlns:a="http://schemas.openxmlformats.org/drawingml/2006/main">
            <a:pPr algn="l">
              <a:lnSpc>
                <a:spcPct val="95000"/>
              </a:lnSpc>
              <a:buNone/>
              <a:defRPr sz="3300" b="1">
                <a:solidFill>
                  <a:srgbClr val="172A2C"/>
                </a:solidFill>
                <a:latin typeface="Arial"/>
                <a:ea typeface="Arial"/>
                <a:cs typeface="Arial"/>
              </a:defRPr>
            </a:pPr>
            <a:r>
              <a:rPr sz="3300" b="1">
                <a:solidFill>
                  <a:srgbClr val="172A2C"/>
                </a:solidFill>
                <a:latin typeface="Arial"/>
                <a:ea typeface="Arial"/>
                <a:cs typeface="Arial"/>
              </a:rPr>
              <a:t>IMPACT TO TEST, LIMITS TO STATE</a:t>
            </a:r>
          </a:p>
        </p:txBody>
      </p:sp>
      <p:sp>
        <p:nvSpPr>
          <p:cNvPr id="2" name="slide-7-number">
            <a:extLst xmlns:a="http://schemas.openxmlformats.org/drawingml/2006/main">
              <a:ext uri="{FF2B5EF4-FFF2-40B4-BE49-F238E27FC236}">
                <a16:creationId xmlns:a16="http://schemas.microsoft.com/office/drawing/2014/main" id="{3E29098F-A117-4673-B481-67A4D2DCD53C}"/>
              </a:ext>
            </a:extLst>
          </p:cNvPr>
          <p:cNvSpPr>
            <a:spLocks xmlns:a="http://schemas.openxmlformats.org/drawingml/2006/main" noGrp="1"/>
          </p:cNvSpPr>
          <p:nvPr/>
        </p:nvSpPr>
        <p:spPr>
          <a:xfrm xmlns:a="http://schemas.openxmlformats.org/drawingml/2006/main">
            <a:off x="11144250" y="63627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1">
                <a:solidFill>
                  <a:srgbClr val="536B6B"/>
                </a:solidFill>
                <a:latin typeface="Arial"/>
                <a:ea typeface="Arial"/>
                <a:cs typeface="Arial"/>
              </a:defRPr>
            </a:defPPr>
          </a:lstStyle>
          <a:p xmlns:a="http://schemas.openxmlformats.org/drawingml/2006/main">
            <a:pPr algn="r">
              <a:lnSpc>
                <a:spcPct val="105000"/>
              </a:lnSpc>
              <a:buNone/>
              <a:defRPr sz="1200" b="1">
                <a:solidFill>
                  <a:srgbClr val="536B6B"/>
                </a:solidFill>
                <a:latin typeface="Arial"/>
                <a:ea typeface="Arial"/>
                <a:cs typeface="Arial"/>
              </a:defRPr>
            </a:pPr>
            <a:r>
              <a:rPr sz="1200" b="1">
                <a:solidFill>
                  <a:srgbClr val="536B6B"/>
                </a:solidFill>
                <a:latin typeface="Arial"/>
                <a:ea typeface="Arial"/>
                <a:cs typeface="Arial"/>
              </a:rPr>
              <a:t>07</a:t>
            </a:r>
          </a:p>
        </p:txBody>
      </p:sp>
      <p:sp>
        <p:nvSpPr>
          <p:cNvPr id="3" name="impact-column-title-1">
            <a:extLst xmlns:a="http://schemas.openxmlformats.org/drawingml/2006/main">
              <a:ext uri="{FF2B5EF4-FFF2-40B4-BE49-F238E27FC236}">
                <a16:creationId xmlns:a16="http://schemas.microsoft.com/office/drawing/2014/main" id="{756A7D76-4115-4EA9-9E89-5ED6CC0E8832}"/>
              </a:ext>
            </a:extLst>
          </p:cNvPr>
          <p:cNvSpPr>
            <a:spLocks xmlns:a="http://schemas.openxmlformats.org/drawingml/2006/main" noGrp="1"/>
          </p:cNvSpPr>
          <p:nvPr/>
        </p:nvSpPr>
        <p:spPr>
          <a:xfrm xmlns:a="http://schemas.openxmlformats.org/drawingml/2006/main">
            <a:off x="685800" y="17526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67C78"/>
                </a:solidFill>
                <a:latin typeface="Arial"/>
                <a:ea typeface="Arial"/>
                <a:cs typeface="Arial"/>
              </a:defRPr>
            </a:defPPr>
          </a:lstStyle>
          <a:p xmlns:a="http://schemas.openxmlformats.org/drawingml/2006/main">
            <a:pPr algn="l">
              <a:lnSpc>
                <a:spcPct val="105000"/>
              </a:lnSpc>
              <a:buNone/>
              <a:defRPr sz="2025" b="1">
                <a:solidFill>
                  <a:srgbClr val="167C78"/>
                </a:solidFill>
                <a:latin typeface="Arial"/>
                <a:ea typeface="Arial"/>
                <a:cs typeface="Arial"/>
              </a:defRPr>
            </a:pPr>
            <a:r>
              <a:rPr sz="2025" b="1">
                <a:solidFill>
                  <a:srgbClr val="167C78"/>
                </a:solidFill>
                <a:latin typeface="Arial"/>
                <a:ea typeface="Arial"/>
                <a:cs typeface="Arial"/>
              </a:rPr>
              <a:t>Intended value</a:t>
            </a:r>
          </a:p>
        </p:txBody>
      </p:sp>
      <p:sp>
        <p:nvSpPr>
          <p:cNvPr id="4" name="impact-column-1-line-1">
            <a:extLst xmlns:a="http://schemas.openxmlformats.org/drawingml/2006/main">
              <a:ext uri="{FF2B5EF4-FFF2-40B4-BE49-F238E27FC236}">
                <a16:creationId xmlns:a16="http://schemas.microsoft.com/office/drawing/2014/main" id="{568EA8E6-2569-40FF-BEA5-5AF5D09AF82F}"/>
              </a:ext>
            </a:extLst>
          </p:cNvPr>
          <p:cNvSpPr>
            <a:spLocks xmlns:a="http://schemas.openxmlformats.org/drawingml/2006/main" noGrp="1"/>
          </p:cNvSpPr>
          <p:nvPr/>
        </p:nvSpPr>
        <p:spPr>
          <a:xfrm xmlns:a="http://schemas.openxmlformats.org/drawingml/2006/main">
            <a:off x="685800" y="24003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A2C"/>
                </a:solidFill>
                <a:latin typeface="Arial"/>
                <a:ea typeface="Arial"/>
                <a:cs typeface="Arial"/>
              </a:defRPr>
            </a:defPPr>
          </a:lstStyle>
          <a:p xmlns:a="http://schemas.openxmlformats.org/drawingml/2006/main">
            <a:pPr algn="l">
              <a:lnSpc>
                <a:spcPct val="110000"/>
              </a:lnSpc>
              <a:buNone/>
              <a:defRPr sz="1650" b="0">
                <a:solidFill>
                  <a:srgbClr val="172A2C"/>
                </a:solidFill>
                <a:latin typeface="Arial"/>
                <a:ea typeface="Arial"/>
                <a:cs typeface="Arial"/>
              </a:defRPr>
            </a:pPr>
            <a:r>
              <a:rPr sz="1650" b="0">
                <a:solidFill>
                  <a:srgbClr val="172A2C"/>
                </a:solidFill>
                <a:latin typeface="Arial"/>
                <a:ea typeface="Arial"/>
                <a:cs typeface="Arial"/>
              </a:rPr>
              <a:t>A clearer first sorting choice</a:t>
            </a:r>
          </a:p>
        </p:txBody>
      </p:sp>
      <p:sp>
        <p:nvSpPr>
          <p:cNvPr id="5" name="impact-column-1-line-2">
            <a:extLst xmlns:a="http://schemas.openxmlformats.org/drawingml/2006/main">
              <a:ext uri="{FF2B5EF4-FFF2-40B4-BE49-F238E27FC236}">
                <a16:creationId xmlns:a16="http://schemas.microsoft.com/office/drawing/2014/main" id="{93570168-6700-4919-B6AF-348BEBFC7B52}"/>
              </a:ext>
            </a:extLst>
          </p:cNvPr>
          <p:cNvSpPr>
            <a:spLocks xmlns:a="http://schemas.openxmlformats.org/drawingml/2006/main" noGrp="1"/>
          </p:cNvSpPr>
          <p:nvPr/>
        </p:nvSpPr>
        <p:spPr>
          <a:xfrm xmlns:a="http://schemas.openxmlformats.org/drawingml/2006/main">
            <a:off x="685800" y="32385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A2C"/>
                </a:solidFill>
                <a:latin typeface="Arial"/>
                <a:ea typeface="Arial"/>
                <a:cs typeface="Arial"/>
              </a:defRPr>
            </a:defPPr>
          </a:lstStyle>
          <a:p xmlns:a="http://schemas.openxmlformats.org/drawingml/2006/main">
            <a:pPr algn="l">
              <a:lnSpc>
                <a:spcPct val="110000"/>
              </a:lnSpc>
              <a:buNone/>
              <a:defRPr sz="1650" b="0">
                <a:solidFill>
                  <a:srgbClr val="172A2C"/>
                </a:solidFill>
                <a:latin typeface="Arial"/>
                <a:ea typeface="Arial"/>
                <a:cs typeface="Arial"/>
              </a:defRPr>
            </a:pPr>
            <a:r>
              <a:rPr sz="1650" b="0">
                <a:solidFill>
                  <a:srgbClr val="172A2C"/>
                </a:solidFill>
                <a:latin typeface="Arial"/>
                <a:ea typeface="Arial"/>
                <a:cs typeface="Arial"/>
              </a:rPr>
              <a:t>Safer handling for batteries and e-waste</a:t>
            </a:r>
          </a:p>
        </p:txBody>
      </p:sp>
      <p:sp>
        <p:nvSpPr>
          <p:cNvPr id="6" name="impact-column-1-line-3">
            <a:extLst xmlns:a="http://schemas.openxmlformats.org/drawingml/2006/main">
              <a:ext uri="{FF2B5EF4-FFF2-40B4-BE49-F238E27FC236}">
                <a16:creationId xmlns:a16="http://schemas.microsoft.com/office/drawing/2014/main" id="{55E1D6DB-D7EC-49B2-97D3-5FD8FDCCA560}"/>
              </a:ext>
            </a:extLst>
          </p:cNvPr>
          <p:cNvSpPr>
            <a:spLocks xmlns:a="http://schemas.openxmlformats.org/drawingml/2006/main" noGrp="1"/>
          </p:cNvSpPr>
          <p:nvPr/>
        </p:nvSpPr>
        <p:spPr>
          <a:xfrm xmlns:a="http://schemas.openxmlformats.org/drawingml/2006/main">
            <a:off x="685800" y="40767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A2C"/>
                </a:solidFill>
                <a:latin typeface="Arial"/>
                <a:ea typeface="Arial"/>
                <a:cs typeface="Arial"/>
              </a:defRPr>
            </a:defPPr>
          </a:lstStyle>
          <a:p xmlns:a="http://schemas.openxmlformats.org/drawingml/2006/main">
            <a:pPr algn="l">
              <a:lnSpc>
                <a:spcPct val="110000"/>
              </a:lnSpc>
              <a:buNone/>
              <a:defRPr sz="1650" b="0">
                <a:solidFill>
                  <a:srgbClr val="172A2C"/>
                </a:solidFill>
                <a:latin typeface="Arial"/>
                <a:ea typeface="Arial"/>
                <a:cs typeface="Arial"/>
              </a:defRPr>
            </a:pPr>
            <a:r>
              <a:rPr sz="1650" b="0">
                <a:solidFill>
                  <a:srgbClr val="172A2C"/>
                </a:solidFill>
                <a:latin typeface="Arial"/>
                <a:ea typeface="Arial"/>
                <a:cs typeface="Arial"/>
              </a:rPr>
              <a:t>A visible path to reuse or recovery</a:t>
            </a:r>
          </a:p>
        </p:txBody>
      </p:sp>
      <p:sp>
        <p:nvSpPr>
          <p:cNvPr id="7" name="impact-column-title-2">
            <a:extLst xmlns:a="http://schemas.openxmlformats.org/drawingml/2006/main">
              <a:ext uri="{FF2B5EF4-FFF2-40B4-BE49-F238E27FC236}">
                <a16:creationId xmlns:a16="http://schemas.microsoft.com/office/drawing/2014/main" id="{D97D0781-FCC0-4C89-906E-9328A0BA569D}"/>
              </a:ext>
            </a:extLst>
          </p:cNvPr>
          <p:cNvSpPr>
            <a:spLocks xmlns:a="http://schemas.openxmlformats.org/drawingml/2006/main" noGrp="1"/>
          </p:cNvSpPr>
          <p:nvPr/>
        </p:nvSpPr>
        <p:spPr>
          <a:xfrm xmlns:a="http://schemas.openxmlformats.org/drawingml/2006/main">
            <a:off x="4476750" y="17526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65A4D"/>
                </a:solidFill>
                <a:latin typeface="Arial"/>
                <a:ea typeface="Arial"/>
                <a:cs typeface="Arial"/>
              </a:defRPr>
            </a:defPPr>
          </a:lstStyle>
          <a:p xmlns:a="http://schemas.openxmlformats.org/drawingml/2006/main">
            <a:pPr algn="l">
              <a:lnSpc>
                <a:spcPct val="105000"/>
              </a:lnSpc>
              <a:buNone/>
              <a:defRPr sz="2025" b="1">
                <a:solidFill>
                  <a:srgbClr val="B65A4D"/>
                </a:solidFill>
                <a:latin typeface="Arial"/>
                <a:ea typeface="Arial"/>
                <a:cs typeface="Arial"/>
              </a:defRPr>
            </a:pPr>
            <a:r>
              <a:rPr sz="2025" b="1">
                <a:solidFill>
                  <a:srgbClr val="B65A4D"/>
                </a:solidFill>
                <a:latin typeface="Arial"/>
                <a:ea typeface="Arial"/>
                <a:cs typeface="Arial"/>
              </a:rPr>
              <a:t>Current limits</a:t>
            </a:r>
          </a:p>
        </p:txBody>
      </p:sp>
      <p:sp>
        <p:nvSpPr>
          <p:cNvPr id="8" name="impact-column-2-line-1">
            <a:extLst xmlns:a="http://schemas.openxmlformats.org/drawingml/2006/main">
              <a:ext uri="{FF2B5EF4-FFF2-40B4-BE49-F238E27FC236}">
                <a16:creationId xmlns:a16="http://schemas.microsoft.com/office/drawing/2014/main" id="{3113D8F4-1ED1-40E5-945E-B577161C16E8}"/>
              </a:ext>
            </a:extLst>
          </p:cNvPr>
          <p:cNvSpPr>
            <a:spLocks xmlns:a="http://schemas.openxmlformats.org/drawingml/2006/main" noGrp="1"/>
          </p:cNvSpPr>
          <p:nvPr/>
        </p:nvSpPr>
        <p:spPr>
          <a:xfrm xmlns:a="http://schemas.openxmlformats.org/drawingml/2006/main">
            <a:off x="4476750" y="24003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A2C"/>
                </a:solidFill>
                <a:latin typeface="Arial"/>
                <a:ea typeface="Arial"/>
                <a:cs typeface="Arial"/>
              </a:defRPr>
            </a:defPPr>
          </a:lstStyle>
          <a:p xmlns:a="http://schemas.openxmlformats.org/drawingml/2006/main">
            <a:pPr algn="l">
              <a:lnSpc>
                <a:spcPct val="110000"/>
              </a:lnSpc>
              <a:buNone/>
              <a:defRPr sz="1650" b="0">
                <a:solidFill>
                  <a:srgbClr val="172A2C"/>
                </a:solidFill>
                <a:latin typeface="Arial"/>
                <a:ea typeface="Arial"/>
                <a:cs typeface="Arial"/>
              </a:defRPr>
            </a:pPr>
            <a:r>
              <a:rPr sz="1650" b="0">
                <a:solidFill>
                  <a:srgbClr val="172A2C"/>
                </a:solidFill>
                <a:latin typeface="Arial"/>
                <a:ea typeface="Arial"/>
                <a:cs typeface="Arial"/>
              </a:rPr>
              <a:t>Twin flows are simulated</a:t>
            </a:r>
          </a:p>
        </p:txBody>
      </p:sp>
      <p:sp>
        <p:nvSpPr>
          <p:cNvPr id="9" name="impact-column-2-line-2">
            <a:extLst xmlns:a="http://schemas.openxmlformats.org/drawingml/2006/main">
              <a:ext uri="{FF2B5EF4-FFF2-40B4-BE49-F238E27FC236}">
                <a16:creationId xmlns:a16="http://schemas.microsoft.com/office/drawing/2014/main" id="{400DC5DD-D5F4-4062-8999-1D22CB0BF55B}"/>
              </a:ext>
            </a:extLst>
          </p:cNvPr>
          <p:cNvSpPr>
            <a:spLocks xmlns:a="http://schemas.openxmlformats.org/drawingml/2006/main" noGrp="1"/>
          </p:cNvSpPr>
          <p:nvPr/>
        </p:nvSpPr>
        <p:spPr>
          <a:xfrm xmlns:a="http://schemas.openxmlformats.org/drawingml/2006/main">
            <a:off x="4476750" y="32385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A2C"/>
                </a:solidFill>
                <a:latin typeface="Arial"/>
                <a:ea typeface="Arial"/>
                <a:cs typeface="Arial"/>
              </a:defRPr>
            </a:defPPr>
          </a:lstStyle>
          <a:p xmlns:a="http://schemas.openxmlformats.org/drawingml/2006/main">
            <a:pPr algn="l">
              <a:lnSpc>
                <a:spcPct val="110000"/>
              </a:lnSpc>
              <a:buNone/>
              <a:defRPr sz="1650" b="0">
                <a:solidFill>
                  <a:srgbClr val="172A2C"/>
                </a:solidFill>
                <a:latin typeface="Arial"/>
                <a:ea typeface="Arial"/>
                <a:cs typeface="Arial"/>
              </a:defRPr>
            </a:pPr>
            <a:r>
              <a:rPr sz="1650" b="0">
                <a:solidFill>
                  <a:srgbClr val="172A2C"/>
                </a:solidFill>
                <a:latin typeface="Arial"/>
                <a:ea typeface="Arial"/>
                <a:cs typeface="Arial"/>
              </a:rPr>
              <a:t>Mass and CO₂ are estimates</a:t>
            </a:r>
          </a:p>
        </p:txBody>
      </p:sp>
      <p:sp>
        <p:nvSpPr>
          <p:cNvPr id="10" name="impact-column-2-line-3">
            <a:extLst xmlns:a="http://schemas.openxmlformats.org/drawingml/2006/main">
              <a:ext uri="{FF2B5EF4-FFF2-40B4-BE49-F238E27FC236}">
                <a16:creationId xmlns:a16="http://schemas.microsoft.com/office/drawing/2014/main" id="{11773AB8-5B54-4B17-BE45-F537EB219C12}"/>
              </a:ext>
            </a:extLst>
          </p:cNvPr>
          <p:cNvSpPr>
            <a:spLocks xmlns:a="http://schemas.openxmlformats.org/drawingml/2006/main" noGrp="1"/>
          </p:cNvSpPr>
          <p:nvPr/>
        </p:nvSpPr>
        <p:spPr>
          <a:xfrm xmlns:a="http://schemas.openxmlformats.org/drawingml/2006/main">
            <a:off x="4476750" y="40767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A2C"/>
                </a:solidFill>
                <a:latin typeface="Arial"/>
                <a:ea typeface="Arial"/>
                <a:cs typeface="Arial"/>
              </a:defRPr>
            </a:defPPr>
          </a:lstStyle>
          <a:p xmlns:a="http://schemas.openxmlformats.org/drawingml/2006/main">
            <a:pPr algn="l">
              <a:lnSpc>
                <a:spcPct val="110000"/>
              </a:lnSpc>
              <a:buNone/>
              <a:defRPr sz="1650" b="0">
                <a:solidFill>
                  <a:srgbClr val="172A2C"/>
                </a:solidFill>
                <a:latin typeface="Arial"/>
                <a:ea typeface="Arial"/>
                <a:cs typeface="Arial"/>
              </a:defRPr>
            </a:pPr>
            <a:r>
              <a:rPr sz="1650" b="0">
                <a:solidFill>
                  <a:srgbClr val="172A2C"/>
                </a:solidFill>
                <a:latin typeface="Arial"/>
                <a:ea typeface="Arial"/>
                <a:cs typeface="Arial"/>
              </a:rPr>
              <a:t>Predictions and local disposal rules need validation</a:t>
            </a:r>
          </a:p>
        </p:txBody>
      </p:sp>
      <p:sp>
        <p:nvSpPr>
          <p:cNvPr id="11" name="impact-column-title-3">
            <a:extLst xmlns:a="http://schemas.openxmlformats.org/drawingml/2006/main">
              <a:ext uri="{FF2B5EF4-FFF2-40B4-BE49-F238E27FC236}">
                <a16:creationId xmlns:a16="http://schemas.microsoft.com/office/drawing/2014/main" id="{EAE68C5D-419F-4585-990C-74CEA1E7E629}"/>
              </a:ext>
            </a:extLst>
          </p:cNvPr>
          <p:cNvSpPr>
            <a:spLocks xmlns:a="http://schemas.openxmlformats.org/drawingml/2006/main" noGrp="1"/>
          </p:cNvSpPr>
          <p:nvPr/>
        </p:nvSpPr>
        <p:spPr>
          <a:xfrm xmlns:a="http://schemas.openxmlformats.org/drawingml/2006/main">
            <a:off x="8267700" y="17526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3A942"/>
                </a:solidFill>
                <a:latin typeface="Arial"/>
                <a:ea typeface="Arial"/>
                <a:cs typeface="Arial"/>
              </a:defRPr>
            </a:defPPr>
          </a:lstStyle>
          <a:p xmlns:a="http://schemas.openxmlformats.org/drawingml/2006/main">
            <a:pPr algn="l">
              <a:lnSpc>
                <a:spcPct val="105000"/>
              </a:lnSpc>
              <a:buNone/>
              <a:defRPr sz="2025" b="1">
                <a:solidFill>
                  <a:srgbClr val="73A942"/>
                </a:solidFill>
                <a:latin typeface="Arial"/>
                <a:ea typeface="Arial"/>
                <a:cs typeface="Arial"/>
              </a:defRPr>
            </a:pPr>
            <a:r>
              <a:rPr sz="2025" b="1">
                <a:solidFill>
                  <a:srgbClr val="73A942"/>
                </a:solidFill>
                <a:latin typeface="Arial"/>
                <a:ea typeface="Arial"/>
                <a:cs typeface="Arial"/>
              </a:rPr>
              <a:t>Next steps</a:t>
            </a:r>
          </a:p>
        </p:txBody>
      </p:sp>
      <p:sp>
        <p:nvSpPr>
          <p:cNvPr id="12" name="impact-column-3-line-1">
            <a:extLst xmlns:a="http://schemas.openxmlformats.org/drawingml/2006/main">
              <a:ext uri="{FF2B5EF4-FFF2-40B4-BE49-F238E27FC236}">
                <a16:creationId xmlns:a16="http://schemas.microsoft.com/office/drawing/2014/main" id="{8829504B-A759-4A26-8A57-3E78EF5BD651}"/>
              </a:ext>
            </a:extLst>
          </p:cNvPr>
          <p:cNvSpPr>
            <a:spLocks xmlns:a="http://schemas.openxmlformats.org/drawingml/2006/main" noGrp="1"/>
          </p:cNvSpPr>
          <p:nvPr/>
        </p:nvSpPr>
        <p:spPr>
          <a:xfrm xmlns:a="http://schemas.openxmlformats.org/drawingml/2006/main">
            <a:off x="8267700" y="24003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A2C"/>
                </a:solidFill>
                <a:latin typeface="Arial"/>
                <a:ea typeface="Arial"/>
                <a:cs typeface="Arial"/>
              </a:defRPr>
            </a:defPPr>
          </a:lstStyle>
          <a:p xmlns:a="http://schemas.openxmlformats.org/drawingml/2006/main">
            <a:pPr algn="l">
              <a:lnSpc>
                <a:spcPct val="110000"/>
              </a:lnSpc>
              <a:buNone/>
              <a:defRPr sz="1650" b="0">
                <a:solidFill>
                  <a:srgbClr val="172A2C"/>
                </a:solidFill>
                <a:latin typeface="Arial"/>
                <a:ea typeface="Arial"/>
                <a:cs typeface="Arial"/>
              </a:defRPr>
            </a:pPr>
            <a:r>
              <a:rPr sz="1650" b="0">
                <a:solidFill>
                  <a:srgbClr val="172A2C"/>
                </a:solidFill>
                <a:latin typeface="Arial"/>
                <a:ea typeface="Arial"/>
                <a:cs typeface="Arial"/>
              </a:rPr>
              <a:t>Test diverse items and photos</a:t>
            </a:r>
          </a:p>
        </p:txBody>
      </p:sp>
      <p:sp>
        <p:nvSpPr>
          <p:cNvPr id="13" name="impact-column-3-line-2">
            <a:extLst xmlns:a="http://schemas.openxmlformats.org/drawingml/2006/main">
              <a:ext uri="{FF2B5EF4-FFF2-40B4-BE49-F238E27FC236}">
                <a16:creationId xmlns:a16="http://schemas.microsoft.com/office/drawing/2014/main" id="{D1B5D5E5-9631-457B-9FC5-54B7A60904FA}"/>
              </a:ext>
            </a:extLst>
          </p:cNvPr>
          <p:cNvSpPr>
            <a:spLocks xmlns:a="http://schemas.openxmlformats.org/drawingml/2006/main" noGrp="1"/>
          </p:cNvSpPr>
          <p:nvPr/>
        </p:nvSpPr>
        <p:spPr>
          <a:xfrm xmlns:a="http://schemas.openxmlformats.org/drawingml/2006/main">
            <a:off x="8267700" y="32385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A2C"/>
                </a:solidFill>
                <a:latin typeface="Arial"/>
                <a:ea typeface="Arial"/>
                <a:cs typeface="Arial"/>
              </a:defRPr>
            </a:defPPr>
          </a:lstStyle>
          <a:p xmlns:a="http://schemas.openxmlformats.org/drawingml/2006/main">
            <a:pPr algn="l">
              <a:lnSpc>
                <a:spcPct val="110000"/>
              </a:lnSpc>
              <a:buNone/>
              <a:defRPr sz="1650" b="0">
                <a:solidFill>
                  <a:srgbClr val="172A2C"/>
                </a:solidFill>
                <a:latin typeface="Arial"/>
                <a:ea typeface="Arial"/>
                <a:cs typeface="Arial"/>
              </a:defRPr>
            </a:pPr>
            <a:r>
              <a:rPr sz="1650" b="0">
                <a:solidFill>
                  <a:srgbClr val="172A2C"/>
                </a:solidFill>
                <a:latin typeface="Arial"/>
                <a:ea typeface="Arial"/>
                <a:cs typeface="Arial"/>
              </a:rPr>
              <a:t>Check advice against local rules</a:t>
            </a:r>
          </a:p>
        </p:txBody>
      </p:sp>
      <p:sp>
        <p:nvSpPr>
          <p:cNvPr id="14" name="impact-column-3-line-3">
            <a:extLst xmlns:a="http://schemas.openxmlformats.org/drawingml/2006/main">
              <a:ext uri="{FF2B5EF4-FFF2-40B4-BE49-F238E27FC236}">
                <a16:creationId xmlns:a16="http://schemas.microsoft.com/office/drawing/2014/main" id="{F61B182A-3C4B-47FE-90CA-B88FDA806307}"/>
              </a:ext>
            </a:extLst>
          </p:cNvPr>
          <p:cNvSpPr>
            <a:spLocks xmlns:a="http://schemas.openxmlformats.org/drawingml/2006/main" noGrp="1"/>
          </p:cNvSpPr>
          <p:nvPr/>
        </p:nvSpPr>
        <p:spPr>
          <a:xfrm xmlns:a="http://schemas.openxmlformats.org/drawingml/2006/main">
            <a:off x="8267700" y="40767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A2C"/>
                </a:solidFill>
                <a:latin typeface="Arial"/>
                <a:ea typeface="Arial"/>
                <a:cs typeface="Arial"/>
              </a:defRPr>
            </a:defPPr>
          </a:lstStyle>
          <a:p xmlns:a="http://schemas.openxmlformats.org/drawingml/2006/main">
            <a:pPr algn="l">
              <a:lnSpc>
                <a:spcPct val="110000"/>
              </a:lnSpc>
              <a:buNone/>
              <a:defRPr sz="1650" b="0">
                <a:solidFill>
                  <a:srgbClr val="172A2C"/>
                </a:solidFill>
                <a:latin typeface="Arial"/>
                <a:ea typeface="Arial"/>
                <a:cs typeface="Arial"/>
              </a:defRPr>
            </a:pPr>
            <a:r>
              <a:rPr sz="1650" b="0">
                <a:solidFill>
                  <a:srgbClr val="172A2C"/>
                </a:solidFill>
                <a:latin typeface="Arial"/>
                <a:ea typeface="Arial"/>
                <a:cs typeface="Arial"/>
              </a:rPr>
              <a:t>Connect measured facility data</a:t>
            </a:r>
          </a:p>
        </p:txBody>
      </p:sp>
      <p:sp>
        <p:nvSpPr>
          <p:cNvPr id="15" name="impact-divider-1">
            <a:extLst xmlns:a="http://schemas.openxmlformats.org/drawingml/2006/main">
              <a:ext uri="{FF2B5EF4-FFF2-40B4-BE49-F238E27FC236}">
                <a16:creationId xmlns:a16="http://schemas.microsoft.com/office/drawing/2014/main" id="{38299719-628F-4680-88BB-5BDDAAB77EBD}"/>
              </a:ext>
            </a:extLst>
          </p:cNvPr>
          <p:cNvSpPr>
            <a:spLocks xmlns:a="http://schemas.openxmlformats.org/drawingml/2006/main" noGrp="1"/>
          </p:cNvSpPr>
          <p:nvPr/>
        </p:nvSpPr>
        <p:spPr>
          <a:xfrm xmlns:a="http://schemas.openxmlformats.org/drawingml/2006/main">
            <a:off x="4171950" y="1714500"/>
            <a:ext cx="9525" cy="3429000"/>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6" name="impact-divider-2">
            <a:extLst xmlns:a="http://schemas.openxmlformats.org/drawingml/2006/main">
              <a:ext uri="{FF2B5EF4-FFF2-40B4-BE49-F238E27FC236}">
                <a16:creationId xmlns:a16="http://schemas.microsoft.com/office/drawing/2014/main" id="{8D467721-DDEE-46ED-A856-FB4A842687BA}"/>
              </a:ext>
            </a:extLst>
          </p:cNvPr>
          <p:cNvSpPr>
            <a:spLocks xmlns:a="http://schemas.openxmlformats.org/drawingml/2006/main" noGrp="1"/>
          </p:cNvSpPr>
          <p:nvPr/>
        </p:nvSpPr>
        <p:spPr>
          <a:xfrm xmlns:a="http://schemas.openxmlformats.org/drawingml/2006/main">
            <a:off x="7962900" y="1714500"/>
            <a:ext cx="9525" cy="3429000"/>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7" name="impact-bottom-band">
            <a:extLst xmlns:a="http://schemas.openxmlformats.org/drawingml/2006/main">
              <a:ext uri="{FF2B5EF4-FFF2-40B4-BE49-F238E27FC236}">
                <a16:creationId xmlns:a16="http://schemas.microsoft.com/office/drawing/2014/main" id="{3EF0647C-075B-4529-8B9C-C5A71ACC0A42}"/>
              </a:ext>
            </a:extLst>
          </p:cNvPr>
          <p:cNvSpPr>
            <a:spLocks xmlns:a="http://schemas.openxmlformats.org/drawingml/2006/main" noGrp="1"/>
          </p:cNvSpPr>
          <p:nvPr/>
        </p:nvSpPr>
        <p:spPr>
          <a:xfrm xmlns:a="http://schemas.openxmlformats.org/drawingml/2006/main">
            <a:off x="685800" y="5353050"/>
            <a:ext cx="10820400" cy="628650"/>
          </a:xfrm>
          <a:prstGeom xmlns:a="http://schemas.openxmlformats.org/drawingml/2006/main" prst="roundRect">
            <a:avLst>
              <a:gd name="adj" fmla="val 18182"/>
            </a:avLst>
          </a:prstGeom>
          <a:solidFill xmlns:a="http://schemas.openxmlformats.org/drawingml/2006/main">
            <a:srgbClr val="E7F0DE"/>
          </a:solidFill>
          <a:ln xmlns:a="http://schemas.openxmlformats.org/drawingml/2006/main" w="0">
            <a:noFill/>
            <a:prstDash val="solid"/>
          </a:ln>
        </p:spPr>
      </p:sp>
      <p:sp>
        <p:nvSpPr>
          <p:cNvPr id="18" name="impact-bottom">
            <a:extLst xmlns:a="http://schemas.openxmlformats.org/drawingml/2006/main">
              <a:ext uri="{FF2B5EF4-FFF2-40B4-BE49-F238E27FC236}">
                <a16:creationId xmlns:a16="http://schemas.microsoft.com/office/drawing/2014/main" id="{D5879BB4-BBE0-49B2-BF81-F4D960C0552A}"/>
              </a:ext>
            </a:extLst>
          </p:cNvPr>
          <p:cNvSpPr>
            <a:spLocks xmlns:a="http://schemas.openxmlformats.org/drawingml/2006/main" noGrp="1"/>
          </p:cNvSpPr>
          <p:nvPr/>
        </p:nvSpPr>
        <p:spPr>
          <a:xfrm xmlns:a="http://schemas.openxmlformats.org/drawingml/2006/main">
            <a:off x="914400" y="5534025"/>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172A2C"/>
                </a:solidFill>
                <a:latin typeface="Arial"/>
                <a:ea typeface="Arial"/>
                <a:cs typeface="Arial"/>
              </a:defRPr>
            </a:defPPr>
          </a:lstStyle>
          <a:p xmlns:a="http://schemas.openxmlformats.org/drawingml/2006/main">
            <a:pPr algn="l">
              <a:lnSpc>
                <a:spcPct val="105000"/>
              </a:lnSpc>
              <a:buNone/>
              <a:defRPr sz="1650" b="1">
                <a:solidFill>
                  <a:srgbClr val="172A2C"/>
                </a:solidFill>
                <a:latin typeface="Arial"/>
                <a:ea typeface="Arial"/>
                <a:cs typeface="Arial"/>
              </a:defRPr>
            </a:pPr>
            <a:r>
              <a:rPr sz="1650" b="1">
                <a:solidFill>
                  <a:srgbClr val="172A2C"/>
                </a:solidFill>
                <a:latin typeface="Arial"/>
                <a:ea typeface="Arial"/>
                <a:cs typeface="Arial"/>
              </a:rPr>
              <a:t>No live environmental savings have been measured by this demo.</a:t>
            </a:r>
          </a:p>
        </p:txBody>
      </p:sp>
    </p:spTree>
    <p:extLst>
      <p:ext uri="{BB962C8B-B14F-4D97-AF65-F5344CB8AC3E}">
        <p14:creationId xmlns:p14="http://schemas.microsoft.com/office/powerpoint/2010/main" val="1626711526"/>
      </p:ext>
    </p:extLst>
  </p:cSld>
</p:sld>
</file>

<file path=ppt/slides/slide8.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20" name="slide-8-title">
            <a:extLst xmlns:a="http://schemas.openxmlformats.org/drawingml/2006/main">
              <a:ext uri="{FF2B5EF4-FFF2-40B4-BE49-F238E27FC236}">
                <a16:creationId xmlns:a16="http://schemas.microsoft.com/office/drawing/2014/main" id="{A9ECA0B9-12CC-47B9-BB86-092AD1494469}"/>
              </a:ext>
            </a:extLst>
          </p:cNvPr>
          <p:cNvSpPr>
            <a:spLocks xmlns:a="http://schemas.openxmlformats.org/drawingml/2006/main" noGrp="1"/>
          </p:cNvSpPr>
          <p:nvPr/>
        </p:nvSpPr>
        <p:spPr>
          <a:xfrm xmlns:a="http://schemas.openxmlformats.org/drawingml/2006/main">
            <a:off x="685800" y="5524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A2C"/>
                </a:solidFill>
                <a:latin typeface="Arial"/>
                <a:ea typeface="Arial"/>
                <a:cs typeface="Arial"/>
              </a:defRPr>
            </a:defPPr>
          </a:lstStyle>
          <a:p xmlns:a="http://schemas.openxmlformats.org/drawingml/2006/main">
            <a:pPr algn="l">
              <a:lnSpc>
                <a:spcPct val="95000"/>
              </a:lnSpc>
              <a:buNone/>
              <a:defRPr sz="3300" b="1">
                <a:solidFill>
                  <a:srgbClr val="172A2C"/>
                </a:solidFill>
                <a:latin typeface="Arial"/>
                <a:ea typeface="Arial"/>
                <a:cs typeface="Arial"/>
              </a:defRPr>
            </a:pPr>
            <a:r>
              <a:rPr sz="3300" b="1">
                <a:solidFill>
                  <a:srgbClr val="172A2C"/>
                </a:solidFill>
                <a:latin typeface="Arial"/>
                <a:ea typeface="Arial"/>
                <a:cs typeface="Arial"/>
              </a:rPr>
              <a:t>A SIMPLE TWO-MINUTE DEMO</a:t>
            </a:r>
          </a:p>
        </p:txBody>
      </p:sp>
      <p:sp>
        <p:nvSpPr>
          <p:cNvPr id="2" name="slide-8-number">
            <a:extLst xmlns:a="http://schemas.openxmlformats.org/drawingml/2006/main">
              <a:ext uri="{FF2B5EF4-FFF2-40B4-BE49-F238E27FC236}">
                <a16:creationId xmlns:a16="http://schemas.microsoft.com/office/drawing/2014/main" id="{20DEA898-D7D5-4C9C-B729-1F27FA9D3B04}"/>
              </a:ext>
            </a:extLst>
          </p:cNvPr>
          <p:cNvSpPr>
            <a:spLocks xmlns:a="http://schemas.openxmlformats.org/drawingml/2006/main" noGrp="1"/>
          </p:cNvSpPr>
          <p:nvPr/>
        </p:nvSpPr>
        <p:spPr>
          <a:xfrm xmlns:a="http://schemas.openxmlformats.org/drawingml/2006/main">
            <a:off x="11144250" y="63627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1">
                <a:solidFill>
                  <a:srgbClr val="536B6B"/>
                </a:solidFill>
                <a:latin typeface="Arial"/>
                <a:ea typeface="Arial"/>
                <a:cs typeface="Arial"/>
              </a:defRPr>
            </a:defPPr>
          </a:lstStyle>
          <a:p xmlns:a="http://schemas.openxmlformats.org/drawingml/2006/main">
            <a:pPr algn="r">
              <a:lnSpc>
                <a:spcPct val="105000"/>
              </a:lnSpc>
              <a:buNone/>
              <a:defRPr sz="1200" b="1">
                <a:solidFill>
                  <a:srgbClr val="536B6B"/>
                </a:solidFill>
                <a:latin typeface="Arial"/>
                <a:ea typeface="Arial"/>
                <a:cs typeface="Arial"/>
              </a:defRPr>
            </a:pPr>
            <a:r>
              <a:rPr sz="1200" b="1">
                <a:solidFill>
                  <a:srgbClr val="536B6B"/>
                </a:solidFill>
                <a:latin typeface="Arial"/>
                <a:ea typeface="Arial"/>
                <a:cs typeface="Arial"/>
              </a:rPr>
              <a:t>08</a:t>
            </a:r>
          </a:p>
        </p:txBody>
      </p:sp>
      <p:sp>
        <p:nvSpPr>
          <p:cNvPr id="3" name="demo-time-1">
            <a:extLst xmlns:a="http://schemas.openxmlformats.org/drawingml/2006/main">
              <a:ext uri="{FF2B5EF4-FFF2-40B4-BE49-F238E27FC236}">
                <a16:creationId xmlns:a16="http://schemas.microsoft.com/office/drawing/2014/main" id="{99FD3ECB-B980-45F1-AC1D-CD0869CB81FD}"/>
              </a:ext>
            </a:extLst>
          </p:cNvPr>
          <p:cNvSpPr>
            <a:spLocks xmlns:a="http://schemas.openxmlformats.org/drawingml/2006/main" noGrp="1"/>
          </p:cNvSpPr>
          <p:nvPr/>
        </p:nvSpPr>
        <p:spPr>
          <a:xfrm xmlns:a="http://schemas.openxmlformats.org/drawingml/2006/main">
            <a:off x="762000" y="1571625"/>
            <a:ext cx="100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67C78"/>
                </a:solidFill>
                <a:latin typeface="Arial"/>
                <a:ea typeface="Arial"/>
                <a:cs typeface="Arial"/>
              </a:defRPr>
            </a:defPPr>
          </a:lstStyle>
          <a:p xmlns:a="http://schemas.openxmlformats.org/drawingml/2006/main">
            <a:pPr algn="l">
              <a:lnSpc>
                <a:spcPct val="105000"/>
              </a:lnSpc>
              <a:buNone/>
              <a:defRPr sz="1500" b="1">
                <a:solidFill>
                  <a:srgbClr val="167C78"/>
                </a:solidFill>
                <a:latin typeface="Arial"/>
                <a:ea typeface="Arial"/>
                <a:cs typeface="Arial"/>
              </a:defRPr>
            </a:pPr>
            <a:r>
              <a:rPr sz="1500" b="1">
                <a:solidFill>
                  <a:srgbClr val="167C78"/>
                </a:solidFill>
                <a:latin typeface="Arial"/>
                <a:ea typeface="Arial"/>
                <a:cs typeface="Arial"/>
              </a:rPr>
              <a:t>00:00</a:t>
            </a:r>
          </a:p>
        </p:txBody>
      </p:sp>
      <p:sp>
        <p:nvSpPr>
          <p:cNvPr id="4" name="demo-title-1">
            <a:extLst xmlns:a="http://schemas.openxmlformats.org/drawingml/2006/main">
              <a:ext uri="{FF2B5EF4-FFF2-40B4-BE49-F238E27FC236}">
                <a16:creationId xmlns:a16="http://schemas.microsoft.com/office/drawing/2014/main" id="{1F485A12-2107-4003-A97D-855303E6D7F4}"/>
              </a:ext>
            </a:extLst>
          </p:cNvPr>
          <p:cNvSpPr>
            <a:spLocks xmlns:a="http://schemas.openxmlformats.org/drawingml/2006/main" noGrp="1"/>
          </p:cNvSpPr>
          <p:nvPr/>
        </p:nvSpPr>
        <p:spPr>
          <a:xfrm xmlns:a="http://schemas.openxmlformats.org/drawingml/2006/main">
            <a:off x="2095500" y="1552575"/>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172A2C"/>
                </a:solidFill>
                <a:latin typeface="Arial"/>
                <a:ea typeface="Arial"/>
                <a:cs typeface="Arial"/>
              </a:defRPr>
            </a:defPPr>
          </a:lstStyle>
          <a:p xmlns:a="http://schemas.openxmlformats.org/drawingml/2006/main">
            <a:pPr algn="l">
              <a:lnSpc>
                <a:spcPct val="105000"/>
              </a:lnSpc>
              <a:buNone/>
              <a:defRPr sz="1800" b="1">
                <a:solidFill>
                  <a:srgbClr val="172A2C"/>
                </a:solidFill>
                <a:latin typeface="Arial"/>
                <a:ea typeface="Arial"/>
                <a:cs typeface="Arial"/>
              </a:defRPr>
            </a:pPr>
            <a:r>
              <a:rPr sz="1800" b="1">
                <a:solidFill>
                  <a:srgbClr val="172A2C"/>
                </a:solidFill>
                <a:latin typeface="Arial"/>
                <a:ea typeface="Arial"/>
                <a:cs typeface="Arial"/>
              </a:rPr>
              <a:t>Choose a sample</a:t>
            </a:r>
          </a:p>
        </p:txBody>
      </p:sp>
      <p:sp>
        <p:nvSpPr>
          <p:cNvPr id="5" name="demo-body-1">
            <a:extLst xmlns:a="http://schemas.openxmlformats.org/drawingml/2006/main">
              <a:ext uri="{FF2B5EF4-FFF2-40B4-BE49-F238E27FC236}">
                <a16:creationId xmlns:a16="http://schemas.microsoft.com/office/drawing/2014/main" id="{D41130D4-0A38-4087-9634-A504988672E7}"/>
              </a:ext>
            </a:extLst>
          </p:cNvPr>
          <p:cNvSpPr>
            <a:spLocks xmlns:a="http://schemas.openxmlformats.org/drawingml/2006/main" noGrp="1"/>
          </p:cNvSpPr>
          <p:nvPr/>
        </p:nvSpPr>
        <p:spPr>
          <a:xfrm xmlns:a="http://schemas.openxmlformats.org/drawingml/2006/main">
            <a:off x="4953000" y="1552575"/>
            <a:ext cx="619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36B6B"/>
                </a:solidFill>
                <a:latin typeface="Arial"/>
                <a:ea typeface="Arial"/>
                <a:cs typeface="Arial"/>
              </a:defRPr>
            </a:defPPr>
          </a:lstStyle>
          <a:p xmlns:a="http://schemas.openxmlformats.org/drawingml/2006/main">
            <a:pPr algn="l">
              <a:lnSpc>
                <a:spcPct val="108000"/>
              </a:lnSpc>
              <a:buNone/>
              <a:defRPr sz="1650" b="0">
                <a:solidFill>
                  <a:srgbClr val="536B6B"/>
                </a:solidFill>
                <a:latin typeface="Arial"/>
                <a:ea typeface="Arial"/>
                <a:cs typeface="Arial"/>
              </a:defRPr>
            </a:pPr>
            <a:r>
              <a:rPr sz="1650" b="0">
                <a:solidFill>
                  <a:srgbClr val="536B6B"/>
                </a:solidFill>
                <a:latin typeface="Arial"/>
                <a:ea typeface="Arial"/>
                <a:cs typeface="Arial"/>
              </a:rPr>
              <a:t>Open the PET bottle specimen or upload a clear item photo.</a:t>
            </a:r>
          </a:p>
        </p:txBody>
      </p:sp>
      <p:sp>
        <p:nvSpPr>
          <p:cNvPr id="6" name="demo-rule-1">
            <a:extLst xmlns:a="http://schemas.openxmlformats.org/drawingml/2006/main">
              <a:ext uri="{FF2B5EF4-FFF2-40B4-BE49-F238E27FC236}">
                <a16:creationId xmlns:a16="http://schemas.microsoft.com/office/drawing/2014/main" id="{3235452F-91AA-4CF7-8033-90B3893A5704}"/>
              </a:ext>
            </a:extLst>
          </p:cNvPr>
          <p:cNvSpPr>
            <a:spLocks xmlns:a="http://schemas.openxmlformats.org/drawingml/2006/main" noGrp="1"/>
          </p:cNvSpPr>
          <p:nvPr/>
        </p:nvSpPr>
        <p:spPr>
          <a:xfrm xmlns:a="http://schemas.openxmlformats.org/drawingml/2006/main">
            <a:off x="2095500" y="2181225"/>
            <a:ext cx="9048750" cy="9525"/>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7" name="demo-time-2">
            <a:extLst xmlns:a="http://schemas.openxmlformats.org/drawingml/2006/main">
              <a:ext uri="{FF2B5EF4-FFF2-40B4-BE49-F238E27FC236}">
                <a16:creationId xmlns:a16="http://schemas.microsoft.com/office/drawing/2014/main" id="{74F323A1-E814-4894-B8D4-E79016962128}"/>
              </a:ext>
            </a:extLst>
          </p:cNvPr>
          <p:cNvSpPr>
            <a:spLocks xmlns:a="http://schemas.openxmlformats.org/drawingml/2006/main" noGrp="1"/>
          </p:cNvSpPr>
          <p:nvPr/>
        </p:nvSpPr>
        <p:spPr>
          <a:xfrm xmlns:a="http://schemas.openxmlformats.org/drawingml/2006/main">
            <a:off x="762000" y="2447925"/>
            <a:ext cx="100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67C78"/>
                </a:solidFill>
                <a:latin typeface="Arial"/>
                <a:ea typeface="Arial"/>
                <a:cs typeface="Arial"/>
              </a:defRPr>
            </a:defPPr>
          </a:lstStyle>
          <a:p xmlns:a="http://schemas.openxmlformats.org/drawingml/2006/main">
            <a:pPr algn="l">
              <a:lnSpc>
                <a:spcPct val="105000"/>
              </a:lnSpc>
              <a:buNone/>
              <a:defRPr sz="1500" b="1">
                <a:solidFill>
                  <a:srgbClr val="167C78"/>
                </a:solidFill>
                <a:latin typeface="Arial"/>
                <a:ea typeface="Arial"/>
                <a:cs typeface="Arial"/>
              </a:defRPr>
            </a:pPr>
            <a:r>
              <a:rPr sz="1500" b="1">
                <a:solidFill>
                  <a:srgbClr val="167C78"/>
                </a:solidFill>
                <a:latin typeface="Arial"/>
                <a:ea typeface="Arial"/>
                <a:cs typeface="Arial"/>
              </a:rPr>
              <a:t>00:25</a:t>
            </a:r>
          </a:p>
        </p:txBody>
      </p:sp>
      <p:sp>
        <p:nvSpPr>
          <p:cNvPr id="8" name="demo-title-2">
            <a:extLst xmlns:a="http://schemas.openxmlformats.org/drawingml/2006/main">
              <a:ext uri="{FF2B5EF4-FFF2-40B4-BE49-F238E27FC236}">
                <a16:creationId xmlns:a16="http://schemas.microsoft.com/office/drawing/2014/main" id="{4DE82568-5807-4D4F-8994-019A323D84A6}"/>
              </a:ext>
            </a:extLst>
          </p:cNvPr>
          <p:cNvSpPr>
            <a:spLocks xmlns:a="http://schemas.openxmlformats.org/drawingml/2006/main" noGrp="1"/>
          </p:cNvSpPr>
          <p:nvPr/>
        </p:nvSpPr>
        <p:spPr>
          <a:xfrm xmlns:a="http://schemas.openxmlformats.org/drawingml/2006/main">
            <a:off x="2095500" y="2428875"/>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172A2C"/>
                </a:solidFill>
                <a:latin typeface="Arial"/>
                <a:ea typeface="Arial"/>
                <a:cs typeface="Arial"/>
              </a:defRPr>
            </a:defPPr>
          </a:lstStyle>
          <a:p xmlns:a="http://schemas.openxmlformats.org/drawingml/2006/main">
            <a:pPr algn="l">
              <a:lnSpc>
                <a:spcPct val="105000"/>
              </a:lnSpc>
              <a:buNone/>
              <a:defRPr sz="1800" b="1">
                <a:solidFill>
                  <a:srgbClr val="172A2C"/>
                </a:solidFill>
                <a:latin typeface="Arial"/>
                <a:ea typeface="Arial"/>
                <a:cs typeface="Arial"/>
              </a:defRPr>
            </a:pPr>
            <a:r>
              <a:rPr sz="1800" b="1">
                <a:solidFill>
                  <a:srgbClr val="172A2C"/>
                </a:solidFill>
                <a:latin typeface="Arial"/>
                <a:ea typeface="Arial"/>
                <a:cs typeface="Arial"/>
              </a:rPr>
              <a:t>Show the prediction</a:t>
            </a:r>
          </a:p>
        </p:txBody>
      </p:sp>
      <p:sp>
        <p:nvSpPr>
          <p:cNvPr id="9" name="demo-body-2">
            <a:extLst xmlns:a="http://schemas.openxmlformats.org/drawingml/2006/main">
              <a:ext uri="{FF2B5EF4-FFF2-40B4-BE49-F238E27FC236}">
                <a16:creationId xmlns:a16="http://schemas.microsoft.com/office/drawing/2014/main" id="{5568C875-235F-4B2B-9981-CB97D387D3F9}"/>
              </a:ext>
            </a:extLst>
          </p:cNvPr>
          <p:cNvSpPr>
            <a:spLocks xmlns:a="http://schemas.openxmlformats.org/drawingml/2006/main" noGrp="1"/>
          </p:cNvSpPr>
          <p:nvPr/>
        </p:nvSpPr>
        <p:spPr>
          <a:xfrm xmlns:a="http://schemas.openxmlformats.org/drawingml/2006/main">
            <a:off x="4953000" y="2428875"/>
            <a:ext cx="619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36B6B"/>
                </a:solidFill>
                <a:latin typeface="Arial"/>
                <a:ea typeface="Arial"/>
                <a:cs typeface="Arial"/>
              </a:defRPr>
            </a:defPPr>
          </a:lstStyle>
          <a:p xmlns:a="http://schemas.openxmlformats.org/drawingml/2006/main">
            <a:pPr algn="l">
              <a:lnSpc>
                <a:spcPct val="108000"/>
              </a:lnSpc>
              <a:buNone/>
              <a:defRPr sz="1650" b="0">
                <a:solidFill>
                  <a:srgbClr val="536B6B"/>
                </a:solidFill>
                <a:latin typeface="Arial"/>
                <a:ea typeface="Arial"/>
                <a:cs typeface="Arial"/>
              </a:defRPr>
            </a:pPr>
            <a:r>
              <a:rPr sz="1650" b="0">
                <a:solidFill>
                  <a:srgbClr val="536B6B"/>
                </a:solidFill>
                <a:latin typeface="Arial"/>
                <a:ea typeface="Arial"/>
                <a:cs typeface="Arial"/>
              </a:rPr>
              <a:t>Point out the suggested material class and confidence.</a:t>
            </a:r>
          </a:p>
        </p:txBody>
      </p:sp>
      <p:sp>
        <p:nvSpPr>
          <p:cNvPr id="10" name="demo-rule-2">
            <a:extLst xmlns:a="http://schemas.openxmlformats.org/drawingml/2006/main">
              <a:ext uri="{FF2B5EF4-FFF2-40B4-BE49-F238E27FC236}">
                <a16:creationId xmlns:a16="http://schemas.microsoft.com/office/drawing/2014/main" id="{6E77A980-600A-4585-BE36-576213B9CFF9}"/>
              </a:ext>
            </a:extLst>
          </p:cNvPr>
          <p:cNvSpPr>
            <a:spLocks xmlns:a="http://schemas.openxmlformats.org/drawingml/2006/main" noGrp="1"/>
          </p:cNvSpPr>
          <p:nvPr/>
        </p:nvSpPr>
        <p:spPr>
          <a:xfrm xmlns:a="http://schemas.openxmlformats.org/drawingml/2006/main">
            <a:off x="2095500" y="3057525"/>
            <a:ext cx="9048750" cy="9525"/>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1" name="demo-time-3">
            <a:extLst xmlns:a="http://schemas.openxmlformats.org/drawingml/2006/main">
              <a:ext uri="{FF2B5EF4-FFF2-40B4-BE49-F238E27FC236}">
                <a16:creationId xmlns:a16="http://schemas.microsoft.com/office/drawing/2014/main" id="{A21259D2-6517-42A1-B56B-81389DEE32DF}"/>
              </a:ext>
            </a:extLst>
          </p:cNvPr>
          <p:cNvSpPr>
            <a:spLocks xmlns:a="http://schemas.openxmlformats.org/drawingml/2006/main" noGrp="1"/>
          </p:cNvSpPr>
          <p:nvPr/>
        </p:nvSpPr>
        <p:spPr>
          <a:xfrm xmlns:a="http://schemas.openxmlformats.org/drawingml/2006/main">
            <a:off x="762000" y="3324225"/>
            <a:ext cx="100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67C78"/>
                </a:solidFill>
                <a:latin typeface="Arial"/>
                <a:ea typeface="Arial"/>
                <a:cs typeface="Arial"/>
              </a:defRPr>
            </a:defPPr>
          </a:lstStyle>
          <a:p xmlns:a="http://schemas.openxmlformats.org/drawingml/2006/main">
            <a:pPr algn="l">
              <a:lnSpc>
                <a:spcPct val="105000"/>
              </a:lnSpc>
              <a:buNone/>
              <a:defRPr sz="1500" b="1">
                <a:solidFill>
                  <a:srgbClr val="167C78"/>
                </a:solidFill>
                <a:latin typeface="Arial"/>
                <a:ea typeface="Arial"/>
                <a:cs typeface="Arial"/>
              </a:defRPr>
            </a:pPr>
            <a:r>
              <a:rPr sz="1500" b="1">
                <a:solidFill>
                  <a:srgbClr val="167C78"/>
                </a:solidFill>
                <a:latin typeface="Arial"/>
                <a:ea typeface="Arial"/>
                <a:cs typeface="Arial"/>
              </a:rPr>
              <a:t>00:55</a:t>
            </a:r>
          </a:p>
        </p:txBody>
      </p:sp>
      <p:sp>
        <p:nvSpPr>
          <p:cNvPr id="12" name="demo-title-3">
            <a:extLst xmlns:a="http://schemas.openxmlformats.org/drawingml/2006/main">
              <a:ext uri="{FF2B5EF4-FFF2-40B4-BE49-F238E27FC236}">
                <a16:creationId xmlns:a16="http://schemas.microsoft.com/office/drawing/2014/main" id="{560D4B39-B5CD-478F-A138-C65A5AEAEAD3}"/>
              </a:ext>
            </a:extLst>
          </p:cNvPr>
          <p:cNvSpPr>
            <a:spLocks xmlns:a="http://schemas.openxmlformats.org/drawingml/2006/main" noGrp="1"/>
          </p:cNvSpPr>
          <p:nvPr/>
        </p:nvSpPr>
        <p:spPr>
          <a:xfrm xmlns:a="http://schemas.openxmlformats.org/drawingml/2006/main">
            <a:off x="2095500" y="3305175"/>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172A2C"/>
                </a:solidFill>
                <a:latin typeface="Arial"/>
                <a:ea typeface="Arial"/>
                <a:cs typeface="Arial"/>
              </a:defRPr>
            </a:defPPr>
          </a:lstStyle>
          <a:p xmlns:a="http://schemas.openxmlformats.org/drawingml/2006/main">
            <a:pPr algn="l">
              <a:lnSpc>
                <a:spcPct val="105000"/>
              </a:lnSpc>
              <a:buNone/>
              <a:defRPr sz="1800" b="1">
                <a:solidFill>
                  <a:srgbClr val="172A2C"/>
                </a:solidFill>
                <a:latin typeface="Arial"/>
                <a:ea typeface="Arial"/>
                <a:cs typeface="Arial"/>
              </a:defRPr>
            </a:pPr>
            <a:r>
              <a:rPr sz="1800" b="1">
                <a:solidFill>
                  <a:srgbClr val="172A2C"/>
                </a:solidFill>
                <a:latin typeface="Arial"/>
                <a:ea typeface="Arial"/>
                <a:cs typeface="Arial"/>
              </a:rPr>
              <a:t>Explain the advice</a:t>
            </a:r>
          </a:p>
        </p:txBody>
      </p:sp>
      <p:sp>
        <p:nvSpPr>
          <p:cNvPr id="13" name="demo-body-3">
            <a:extLst xmlns:a="http://schemas.openxmlformats.org/drawingml/2006/main">
              <a:ext uri="{FF2B5EF4-FFF2-40B4-BE49-F238E27FC236}">
                <a16:creationId xmlns:a16="http://schemas.microsoft.com/office/drawing/2014/main" id="{9F6D3326-E390-42D1-A489-2530BE4B7597}"/>
              </a:ext>
            </a:extLst>
          </p:cNvPr>
          <p:cNvSpPr>
            <a:spLocks xmlns:a="http://schemas.openxmlformats.org/drawingml/2006/main" noGrp="1"/>
          </p:cNvSpPr>
          <p:nvPr/>
        </p:nvSpPr>
        <p:spPr>
          <a:xfrm xmlns:a="http://schemas.openxmlformats.org/drawingml/2006/main">
            <a:off x="4953000" y="3305175"/>
            <a:ext cx="619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36B6B"/>
                </a:solidFill>
                <a:latin typeface="Arial"/>
                <a:ea typeface="Arial"/>
                <a:cs typeface="Arial"/>
              </a:defRPr>
            </a:defPPr>
          </a:lstStyle>
          <a:p xmlns:a="http://schemas.openxmlformats.org/drawingml/2006/main">
            <a:pPr algn="l">
              <a:lnSpc>
                <a:spcPct val="108000"/>
              </a:lnSpc>
              <a:buNone/>
              <a:defRPr sz="1650" b="0">
                <a:solidFill>
                  <a:srgbClr val="536B6B"/>
                </a:solidFill>
                <a:latin typeface="Arial"/>
                <a:ea typeface="Arial"/>
                <a:cs typeface="Arial"/>
              </a:defRPr>
            </a:pPr>
            <a:r>
              <a:rPr sz="1650" b="0">
                <a:solidFill>
                  <a:srgbClr val="536B6B"/>
                </a:solidFill>
                <a:latin typeface="Arial"/>
                <a:ea typeface="Arial"/>
                <a:cs typeface="Arial"/>
              </a:rPr>
              <a:t>Open the preparation or safety tip, or ask one circular-economy question.</a:t>
            </a:r>
          </a:p>
        </p:txBody>
      </p:sp>
      <p:sp>
        <p:nvSpPr>
          <p:cNvPr id="14" name="demo-rule-3">
            <a:extLst xmlns:a="http://schemas.openxmlformats.org/drawingml/2006/main">
              <a:ext uri="{FF2B5EF4-FFF2-40B4-BE49-F238E27FC236}">
                <a16:creationId xmlns:a16="http://schemas.microsoft.com/office/drawing/2014/main" id="{201CE198-A89E-44B5-842E-AC62D20571BE}"/>
              </a:ext>
            </a:extLst>
          </p:cNvPr>
          <p:cNvSpPr>
            <a:spLocks xmlns:a="http://schemas.openxmlformats.org/drawingml/2006/main" noGrp="1"/>
          </p:cNvSpPr>
          <p:nvPr/>
        </p:nvSpPr>
        <p:spPr>
          <a:xfrm xmlns:a="http://schemas.openxmlformats.org/drawingml/2006/main">
            <a:off x="2095500" y="3933825"/>
            <a:ext cx="9048750" cy="9525"/>
          </a:xfrm>
          <a:prstGeom xmlns:a="http://schemas.openxmlformats.org/drawingml/2006/main" prst="rect">
            <a:avLst/>
          </a:prstGeom>
          <a:solidFill xmlns:a="http://schemas.openxmlformats.org/drawingml/2006/main">
            <a:srgbClr val="C9D5CE"/>
          </a:solidFill>
          <a:ln xmlns:a="http://schemas.openxmlformats.org/drawingml/2006/main" w="0">
            <a:noFill/>
            <a:prstDash val="solid"/>
          </a:ln>
        </p:spPr>
      </p:sp>
      <p:sp>
        <p:nvSpPr>
          <p:cNvPr id="15" name="demo-time-4">
            <a:extLst xmlns:a="http://schemas.openxmlformats.org/drawingml/2006/main">
              <a:ext uri="{FF2B5EF4-FFF2-40B4-BE49-F238E27FC236}">
                <a16:creationId xmlns:a16="http://schemas.microsoft.com/office/drawing/2014/main" id="{7DBE9F95-383D-465F-A152-B83986485578}"/>
              </a:ext>
            </a:extLst>
          </p:cNvPr>
          <p:cNvSpPr>
            <a:spLocks xmlns:a="http://schemas.openxmlformats.org/drawingml/2006/main" noGrp="1"/>
          </p:cNvSpPr>
          <p:nvPr/>
        </p:nvSpPr>
        <p:spPr>
          <a:xfrm xmlns:a="http://schemas.openxmlformats.org/drawingml/2006/main">
            <a:off x="762000" y="4200525"/>
            <a:ext cx="100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67C78"/>
                </a:solidFill>
                <a:latin typeface="Arial"/>
                <a:ea typeface="Arial"/>
                <a:cs typeface="Arial"/>
              </a:defRPr>
            </a:defPPr>
          </a:lstStyle>
          <a:p xmlns:a="http://schemas.openxmlformats.org/drawingml/2006/main">
            <a:pPr algn="l">
              <a:lnSpc>
                <a:spcPct val="105000"/>
              </a:lnSpc>
              <a:buNone/>
              <a:defRPr sz="1500" b="1">
                <a:solidFill>
                  <a:srgbClr val="167C78"/>
                </a:solidFill>
                <a:latin typeface="Arial"/>
                <a:ea typeface="Arial"/>
                <a:cs typeface="Arial"/>
              </a:defRPr>
            </a:pPr>
            <a:r>
              <a:rPr sz="1500" b="1">
                <a:solidFill>
                  <a:srgbClr val="167C78"/>
                </a:solidFill>
                <a:latin typeface="Arial"/>
                <a:ea typeface="Arial"/>
                <a:cs typeface="Arial"/>
              </a:rPr>
              <a:t>01:25</a:t>
            </a:r>
          </a:p>
        </p:txBody>
      </p:sp>
      <p:sp>
        <p:nvSpPr>
          <p:cNvPr id="16" name="demo-title-4">
            <a:extLst xmlns:a="http://schemas.openxmlformats.org/drawingml/2006/main">
              <a:ext uri="{FF2B5EF4-FFF2-40B4-BE49-F238E27FC236}">
                <a16:creationId xmlns:a16="http://schemas.microsoft.com/office/drawing/2014/main" id="{CDB24D89-6C0C-454C-878C-E6FEE62F9D56}"/>
              </a:ext>
            </a:extLst>
          </p:cNvPr>
          <p:cNvSpPr>
            <a:spLocks xmlns:a="http://schemas.openxmlformats.org/drawingml/2006/main" noGrp="1"/>
          </p:cNvSpPr>
          <p:nvPr/>
        </p:nvSpPr>
        <p:spPr>
          <a:xfrm xmlns:a="http://schemas.openxmlformats.org/drawingml/2006/main">
            <a:off x="2095500" y="4181475"/>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172A2C"/>
                </a:solidFill>
                <a:latin typeface="Arial"/>
                <a:ea typeface="Arial"/>
                <a:cs typeface="Arial"/>
              </a:defRPr>
            </a:defPPr>
          </a:lstStyle>
          <a:p xmlns:a="http://schemas.openxmlformats.org/drawingml/2006/main">
            <a:pPr algn="l">
              <a:lnSpc>
                <a:spcPct val="105000"/>
              </a:lnSpc>
              <a:buNone/>
              <a:defRPr sz="1800" b="1">
                <a:solidFill>
                  <a:srgbClr val="172A2C"/>
                </a:solidFill>
                <a:latin typeface="Arial"/>
                <a:ea typeface="Arial"/>
                <a:cs typeface="Arial"/>
              </a:defRPr>
            </a:pPr>
            <a:r>
              <a:rPr sz="1800" b="1">
                <a:solidFill>
                  <a:srgbClr val="172A2C"/>
                </a:solidFill>
                <a:latin typeface="Arial"/>
                <a:ea typeface="Arial"/>
                <a:cs typeface="Arial"/>
              </a:rPr>
              <a:t>Follow the route</a:t>
            </a:r>
          </a:p>
        </p:txBody>
      </p:sp>
      <p:sp>
        <p:nvSpPr>
          <p:cNvPr id="17" name="demo-body-4">
            <a:extLst xmlns:a="http://schemas.openxmlformats.org/drawingml/2006/main">
              <a:ext uri="{FF2B5EF4-FFF2-40B4-BE49-F238E27FC236}">
                <a16:creationId xmlns:a16="http://schemas.microsoft.com/office/drawing/2014/main" id="{57006202-9C91-478A-A66C-6513AFB7BDBA}"/>
              </a:ext>
            </a:extLst>
          </p:cNvPr>
          <p:cNvSpPr>
            <a:spLocks xmlns:a="http://schemas.openxmlformats.org/drawingml/2006/main" noGrp="1"/>
          </p:cNvSpPr>
          <p:nvPr/>
        </p:nvSpPr>
        <p:spPr>
          <a:xfrm xmlns:a="http://schemas.openxmlformats.org/drawingml/2006/main">
            <a:off x="4953000" y="4181475"/>
            <a:ext cx="619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36B6B"/>
                </a:solidFill>
                <a:latin typeface="Arial"/>
                <a:ea typeface="Arial"/>
                <a:cs typeface="Arial"/>
              </a:defRPr>
            </a:defPPr>
          </a:lstStyle>
          <a:p xmlns:a="http://schemas.openxmlformats.org/drawingml/2006/main">
            <a:pPr algn="l">
              <a:lnSpc>
                <a:spcPct val="108000"/>
              </a:lnSpc>
              <a:buNone/>
              <a:defRPr sz="1650" b="0">
                <a:solidFill>
                  <a:srgbClr val="536B6B"/>
                </a:solidFill>
                <a:latin typeface="Arial"/>
                <a:ea typeface="Arial"/>
                <a:cs typeface="Arial"/>
              </a:defRPr>
            </a:pPr>
            <a:r>
              <a:rPr sz="1650" b="0">
                <a:solidFill>
                  <a:srgbClr val="536B6B"/>
                </a:solidFill>
                <a:latin typeface="Arial"/>
                <a:ea typeface="Arial"/>
                <a:cs typeface="Arial"/>
              </a:rPr>
              <a:t>Show the simulated twin destination, audit entry and CSV/JSON export.</a:t>
            </a:r>
          </a:p>
        </p:txBody>
      </p:sp>
      <p:sp>
        <p:nvSpPr>
          <p:cNvPr id="18" name="demo-reminder-band">
            <a:extLst xmlns:a="http://schemas.openxmlformats.org/drawingml/2006/main">
              <a:ext uri="{FF2B5EF4-FFF2-40B4-BE49-F238E27FC236}">
                <a16:creationId xmlns:a16="http://schemas.microsoft.com/office/drawing/2014/main" id="{A057AC73-C7EF-4C6B-B676-A949D018BA5F}"/>
              </a:ext>
            </a:extLst>
          </p:cNvPr>
          <p:cNvSpPr>
            <a:spLocks xmlns:a="http://schemas.openxmlformats.org/drawingml/2006/main" noGrp="1"/>
          </p:cNvSpPr>
          <p:nvPr/>
        </p:nvSpPr>
        <p:spPr>
          <a:xfrm xmlns:a="http://schemas.openxmlformats.org/drawingml/2006/main">
            <a:off x="685800" y="5334000"/>
            <a:ext cx="10820400" cy="685800"/>
          </a:xfrm>
          <a:prstGeom xmlns:a="http://schemas.openxmlformats.org/drawingml/2006/main" prst="roundRect">
            <a:avLst>
              <a:gd name="adj" fmla="val 16667"/>
            </a:avLst>
          </a:prstGeom>
          <a:solidFill xmlns:a="http://schemas.openxmlformats.org/drawingml/2006/main">
            <a:srgbClr val="142832"/>
          </a:solidFill>
          <a:ln xmlns:a="http://schemas.openxmlformats.org/drawingml/2006/main" w="0">
            <a:noFill/>
            <a:prstDash val="solid"/>
          </a:ln>
        </p:spPr>
      </p:sp>
      <p:sp>
        <p:nvSpPr>
          <p:cNvPr id="19" name="demo-reminder">
            <a:extLst xmlns:a="http://schemas.openxmlformats.org/drawingml/2006/main">
              <a:ext uri="{FF2B5EF4-FFF2-40B4-BE49-F238E27FC236}">
                <a16:creationId xmlns:a16="http://schemas.microsoft.com/office/drawing/2014/main" id="{0A490CE4-4571-4862-AA38-F4B6E7C63CB2}"/>
              </a:ext>
            </a:extLst>
          </p:cNvPr>
          <p:cNvSpPr>
            <a:spLocks xmlns:a="http://schemas.openxmlformats.org/drawingml/2006/main" noGrp="1"/>
          </p:cNvSpPr>
          <p:nvPr/>
        </p:nvSpPr>
        <p:spPr>
          <a:xfrm xmlns:a="http://schemas.openxmlformats.org/drawingml/2006/main">
            <a:off x="914400" y="551497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If the camera fails, switch to a specimen. Say clearly that the twin and impact values are simulated.</a:t>
            </a:r>
          </a:p>
        </p:txBody>
      </p:sp>
    </p:spTree>
    <p:extLst>
      <p:ext uri="{BB962C8B-B14F-4D97-AF65-F5344CB8AC3E}">
        <p14:creationId xmlns:p14="http://schemas.microsoft.com/office/powerpoint/2010/main" val="8180148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2026-10-16T05:23:17.5810000Z</dcterms:created>
  <dcterms:modified xsi:type="dcterms:W3CDTF">2026-10-16T05:23:17.5810000Z</dcterms:modified>
</coreProperties>
</file>